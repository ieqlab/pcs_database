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2">
  <p:sldMasterIdLst>
    <p:sldMasterId id="2147483659" r:id="rId1"/>
    <p:sldMasterId id="2147483687" r:id="rId2"/>
    <p:sldMasterId id="2147483689" r:id="rId3"/>
  </p:sldMasterIdLst>
  <p:notesMasterIdLst>
    <p:notesMasterId r:id="rId13"/>
  </p:notesMasterIdLst>
  <p:sldIdLst>
    <p:sldId id="293" r:id="rId4"/>
    <p:sldId id="2147483067" r:id="rId5"/>
    <p:sldId id="2147483056" r:id="rId6"/>
    <p:sldId id="2147483062" r:id="rId7"/>
    <p:sldId id="2147483069" r:id="rId8"/>
    <p:sldId id="2147483066" r:id="rId9"/>
    <p:sldId id="2147483068" r:id="rId10"/>
    <p:sldId id="2147483094" r:id="rId11"/>
    <p:sldId id="2147483070" r:id="rId12"/>
  </p:sldIdLst>
  <p:sldSz cx="12192000" cy="6858000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41B89994-C951-4447-851C-7BE12BA5DC9D}">
          <p14:sldIdLst>
            <p14:sldId id="293"/>
            <p14:sldId id="2147483067"/>
            <p14:sldId id="2147483056"/>
            <p14:sldId id="2147483062"/>
            <p14:sldId id="2147483069"/>
            <p14:sldId id="2147483066"/>
            <p14:sldId id="2147483068"/>
            <p14:sldId id="2147483094"/>
          </p14:sldIdLst>
        </p14:section>
        <p14:section name="sub" id="{50908A13-67B4-4817-AAD1-96BA3C882EE0}">
          <p14:sldIdLst>
            <p14:sldId id="21474830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F"/>
    <a:srgbClr val="DFEAF9"/>
    <a:srgbClr val="DCE6F2"/>
    <a:srgbClr val="F2DCDB"/>
    <a:srgbClr val="FFE9E8"/>
    <a:srgbClr val="0000FF"/>
    <a:srgbClr val="8F8785"/>
    <a:srgbClr val="E6B9B8"/>
    <a:srgbClr val="FCEEE4"/>
    <a:srgbClr val="838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62" autoAdjust="0"/>
    <p:restoredTop sz="96242" autoAdjust="0"/>
  </p:normalViewPr>
  <p:slideViewPr>
    <p:cSldViewPr snapToGrid="0">
      <p:cViewPr>
        <p:scale>
          <a:sx n="100" d="100"/>
          <a:sy n="100" d="100"/>
        </p:scale>
        <p:origin x="1434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2678" y="7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7:44:55.301"/>
    </inkml:context>
    <inkml:brush xml:id="br0">
      <inkml:brushProperty name="width" value="0.1" units="cm"/>
      <inkml:brushProperty name="height" value="0.1" units="cm"/>
      <inkml:brushProperty name="color" value="#00B0F0"/>
      <inkml:brushProperty name="transparency" value="127"/>
    </inkml:brush>
  </inkml:definitions>
  <inkml:trace contextRef="#ctx0" brushRef="#br0">1167 420 24575,'-20'1'0,"0"1"0,0 1 0,-40 11 0,40-8 0,0-1 0,0-2 0,0 0 0,-21 1 0,34-4 0,1 0 0,-1 0 0,1-1 0,-1 0 0,1 0 0,0 0 0,-1-1 0,1 0 0,-7-3 0,10 3 0,-1-1 0,0 1 0,1-1 0,0 0 0,-1 0 0,1-1 0,0 1 0,1 0 0,-1-1 0,1 0 0,-1 0 0,1 0 0,0 0 0,-1-4 0,-44-105 0,42 104 0,1 0 0,-2 1 0,1-1 0,-1 1 0,0 0 0,-1 1 0,0 0 0,-13-11 0,-8-4 0,-33-19 0,43 29 0,-10-5 0,0 0 0,0 2 0,-2 2 0,-52-18 0,51 21 0,17 5 0,-1 1 0,0 0 0,-17-2 0,27 5 0,0 1 0,-1 0 0,1 0 0,-1 1 0,1 0 0,0 0 0,0 0 0,-1 0 0,1 1 0,0 0 0,0 0 0,-8 4 0,1 2 17,-1-2 0,0 0 1,0 0-1,0-1 0,-1-1 0,-15 3 0,24-6-85,0 0 1,1 0-1,-1-1 1,0 0-1,0 0 1,0 0-1,0-1 1,1 1-1,-1-1 1,0-1-1,0 1 1,1 0-1,-1-1 1,1 0-1,0 0 1,-1-1-1,1 1 1,0-1-1,0 0 1,0 0-1,-4-5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7:44:57.160"/>
    </inkml:context>
    <inkml:brush xml:id="br0">
      <inkml:brushProperty name="width" value="0.1" units="cm"/>
      <inkml:brushProperty name="height" value="0.1" units="cm"/>
      <inkml:brushProperty name="color" value="#00B0F0"/>
      <inkml:brushProperty name="transparency" value="127"/>
    </inkml:brush>
  </inkml:definitions>
  <inkml:trace contextRef="#ctx0" brushRef="#br0">1162 474 24575,'-1'0'0,"1"-1"0,-1 1 0,0 0 0,1-1 0,-1 1 0,0 0 0,1-1 0,-1 1 0,0-1 0,1 1 0,-1-1 0,1 1 0,-1-1 0,1 1 0,-1-1 0,1 1 0,-1-1 0,1 0 0,0 1 0,-1-1 0,1 0 0,0 1 0,-1-1 0,1-1 0,-7-25 0,4 14 0,-2-2 0,-1 1 0,-1 0 0,0 0 0,-1 0 0,0 1 0,-20-23 0,21 28 0,-1 0 0,0 0 0,-1 1 0,1 1 0,-1-1 0,-1 2 0,1-1 0,-1 1 0,0 1 0,-18-7 0,3 3 0,-1 2 0,-1 0 0,-49-4 0,64 10 0,-1 0 0,1 0 0,-1 2 0,1 0 0,-1 0 0,1 1 0,0 0 0,0 1 0,0 1 0,-16 8 0,15-6 0,0 0 0,0-1 0,0 0 0,-1-2 0,0 1 0,0-2 0,0 0 0,0 0 0,-1-1 0,-21-1 0,-12-1 0,-50-8 0,79 5 0,-1 0 0,1-2 0,0-1 0,0 0 0,-24-12 0,31 13 0,1-1 0,0 0 0,0-1 0,1 0 0,0-1 0,0 0 0,0 0 0,1-1 0,1 0 0,-1-1 0,-12-20 0,10 13 0,2 0 0,0-1 0,-10-31 0,18 48-64,-3-11 256,4 13-217,0-1 0,0 0 1,0 0-1,0 0 0,-1 0 0,1 0 0,0 0 0,0 0 0,0 0 0,0 1 1,0-1-1,0 0 0,0 0 0,0 0 0,0 0 0,0 0 0,0 0 0,-1 0 0,1 0 1,0 0-1,0 0 0,0 0 0,0 0 0,0 0 0,0 0 0,0 0 0,0 0 0,-1 0 1,1 0-1,0 0 0,0 0 0,0 0 0,0 0 0,0 0 0,0 0 0,-1 0 0,1 0 1,0 0-1,0 0 0,0 0 0,0 0 0,0 0 0,0 0 0,0 0 0,0 0 0,0 0 1,-1 0-1,1 0 0,0 0 0,0 0 0,0-1 0,0 1 0,0 0 0,0 0 0,0 0 1,0 0-1,0 0 0,0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7:44:58.860"/>
    </inkml:context>
    <inkml:brush xml:id="br0">
      <inkml:brushProperty name="width" value="0.1" units="cm"/>
      <inkml:brushProperty name="height" value="0.1" units="cm"/>
      <inkml:brushProperty name="color" value="#00B0F0"/>
      <inkml:brushProperty name="transparency" value="127"/>
    </inkml:brush>
  </inkml:definitions>
  <inkml:trace contextRef="#ctx0" brushRef="#br0">292 0 24575,'-6'1'0,"-1"0"0,1 1 0,0-1 0,-1 1 0,1 0 0,0 1 0,0 0 0,0 0 0,-8 6 0,-27 12 0,-109 39 0,148-60 0,0 1 0,0 0 0,1-1 0,-1 1 0,1 0 0,-1 0 0,1 0 0,-1 0 0,1 0 0,0 1 0,-1-1 0,1 0 0,0 0 0,0 1 0,0-1 0,0 1 0,0-1 0,0 1 0,0 0 0,1-1 0,-1 1 0,0 0 0,1-1 0,0 1 0,-1 0 0,1 0 0,0-1 0,0 1 0,0 0 0,0 0 0,0 0 0,0-1 0,0 1 0,1 0 0,-1 0 0,1-1 0,-1 1 0,1 0 0,0-1 0,1 4 0,5 6 0,0-1 0,1 0 0,0 0 0,18 17 0,-8-8 0,47 62-1365,-54-69-5461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7:45:00.670"/>
    </inkml:context>
    <inkml:brush xml:id="br0">
      <inkml:brushProperty name="width" value="0.1" units="cm"/>
      <inkml:brushProperty name="height" value="0.1" units="cm"/>
      <inkml:brushProperty name="color" value="#00B0F0"/>
      <inkml:brushProperty name="transparency" value="127"/>
    </inkml:brush>
  </inkml:definitions>
  <inkml:trace contextRef="#ctx0" brushRef="#br0">340 30 24575,'-45'1'0,"0"-2"0,0-2 0,-82-17 0,126 20 0,-5-2 0,0 1 0,0-1 0,1 1 0,-1 1 0,0-1 0,-10 1 0,14 0 0,1 1 0,0-1 0,0 0 0,-1 1 0,1-1 0,0 1 0,0 0 0,0-1 0,0 1 0,-1 0 0,1 0 0,0 0 0,0-1 0,1 1 0,-1 0 0,0 0 0,0 1 0,0-1 0,1 0 0,-1 0 0,0 0 0,1 0 0,-1 1 0,1-1 0,-1 0 0,1 0 0,0 1 0,0-1 0,0 0 0,-1 1 0,1-1 0,0 0 0,0 1 0,1-1 0,-1 0 0,0 2 0,4 29 0,1 0 0,1-1 0,11 32 0,11 53 0,-21-74-73,-2-13-573,3 58 0,-8-69-6180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r">
              <a:defRPr sz="1200"/>
            </a:lvl1pPr>
          </a:lstStyle>
          <a:p>
            <a:fld id="{5E4D94E6-8117-4524-A20F-E4D0BD2C798D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77838" y="1279525"/>
            <a:ext cx="6143625" cy="3455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1" tIns="49520" rIns="99041" bIns="495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1" tIns="49520" rIns="99041" bIns="495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r">
              <a:defRPr sz="1200"/>
            </a:lvl1pPr>
          </a:lstStyle>
          <a:p>
            <a:fld id="{AECFA151-78C0-4CE9-8487-9CBDB7210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033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Hello everyone. My name is Aki Nomoto, and I am a researcher at Takenaka Corporation in Japan.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Today, I would like to present our work titled “Supporting PCS Adoption: A Database of Cooling and Heating Effects for Designers and Practitioners”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I was working on this project when I was in Australia, and the co-authors of this project are Maira Andre and Thomas Parkinson from the University of Sydney.</a:t>
            </a:r>
            <a:endParaRPr lang="en-US" altLang="ja-JP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630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So, in this study, we developed an open-access database that quantifies the cooling and heating effects of commercially available Personal Comfort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The database is publicly available on GitHub and you can use the data for both research purpose and practical application.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327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DF29-C2EA-3B12-0A4D-EB652FB9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52288E-CDCF-E265-B517-7ACD0648D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718DF67-75AF-E45D-ADAB-A0C388B81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800" dirty="0"/>
              <a:t>First, let me briefly introduce the background and motivation of this study.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800" dirty="0"/>
              <a:t>So first of all, what is PCS?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800" dirty="0"/>
              <a:t>PCS are devices that directly heat or cool occupants.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800" dirty="0"/>
              <a:t>Some common examples are desk fans, standing fans, and foot warmers.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800" dirty="0"/>
              <a:t>■</a:t>
            </a:r>
            <a:r>
              <a:rPr lang="en-US" altLang="ja-JP" sz="800" dirty="0"/>
              <a:t>What we know from the previous studies is that PCS have both comfort and energy benefit.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sz="800" dirty="0"/>
              <a:t>For comfort perspective, because they are adjustable, you can adjust the level of heating or cooling intensity whatever they want.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sz="800" dirty="0"/>
              <a:t>In terms of energy perspective, as PCS directly heat or cool occupants, they are much more energy-efficient compared to an air-conditioning system cool/warm the entire space, not people.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800" dirty="0"/>
              <a:t>However, there is an issue/research gap, which is, most previous studies focus on prototype products with limited conditions.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800" dirty="0"/>
              <a:t>And there is a few study focusing on commercially available products.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sz="800" dirty="0"/>
              <a:t>So, it is difficult for us to apply these findings in real building projects because we cannot use prototype products.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sz="800" dirty="0"/>
              <a:t>■</a:t>
            </a:r>
            <a:r>
              <a:rPr lang="en-US" altLang="ja-JP" sz="800" dirty="0"/>
              <a:t>So, the objective of this study is to </a:t>
            </a:r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develop an open-access database for a range of commercially available PCS products.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altLang="ja-JP" sz="800" dirty="0"/>
              <a:t>purchased a lot of PCS products on Amazon and we did a performance evaluation.</a:t>
            </a:r>
            <a:endParaRPr kumimoji="1" lang="ja-JP" altLang="en-US" sz="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76A223-3B3B-C7F2-AF83-CD9764643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008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4D28-1265-D733-928A-0D6D02A0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BBCE99B-6A2E-8742-FE3B-327B14F02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965E927-7F3B-446F-42CD-C6FA7D761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To do that, we conducted thermal manikin experiments quantifying the performance of 17 PCS devices in a climate-controlled chamber at The University of Sydney.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A thermal manikin is a manikin that is like a real human and we can control surface temperature for different body parts.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The images here shows an example of the test setup.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As you can see, the facial area is cooled by a desk fan.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dirty="0"/>
              <a:t>■</a:t>
            </a:r>
            <a:r>
              <a:rPr lang="en-US" altLang="ja-JP" dirty="0"/>
              <a:t>For PCS performance evaluation, we maintained the manikin’s skin temperature at 34°C and we measured the supplied power to keep this surface temperature.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We performed two tests: WITH and WITHOUT PCS operation, and the difference in the supplied power between the two conditions was defined as PCS effect.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For example, when a desk fan is used, 50 W is needed to maintain the facial skin temperature at 34°C, but without desk fan only 30 W is required.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In this case, this 20 W difference is defined as the cooling effect of the desk fan.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dirty="0"/>
              <a:t>■</a:t>
            </a:r>
            <a:r>
              <a:rPr lang="en-US" altLang="ja-JP" dirty="0"/>
              <a:t>In total, we evaluated 17 PCS devices, including 10 cooling devices and 7 heating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We did the tests with three temperature conditions: 22, 25, 28oC for each PCS product.</a:t>
            </a:r>
            <a:endParaRPr lang="en-US" altLang="ja-JP" sz="1200" dirty="0">
              <a:solidFill>
                <a:srgbClr val="3E3A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ja-JP" sz="1200" dirty="0">
              <a:solidFill>
                <a:srgbClr val="3E3A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A3A8EF-A99C-3BF8-29AD-F849F33C3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303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BB73-1ADC-4CA9-566C-99A7B729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6B7E406-012D-24A8-52F1-08C8A107A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60A378D-ADB2-8ACB-85DC-25179B137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This is how the database</a:t>
            </a:r>
            <a:r>
              <a:rPr lang="ja-JP" altLang="en-US" dirty="0"/>
              <a:t> </a:t>
            </a:r>
            <a:r>
              <a:rPr lang="en-US" altLang="ja-JP" dirty="0"/>
              <a:t>looks like.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It is just a simple CSV file.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The database includes the device info, test conditions, and the measured performance.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A17BEB-156A-5947-01C9-91B71F2B7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69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147E-EE84-B604-86E0-44E37C9B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1905863-BA49-F25F-84AF-9BB255AE3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3098D4-EAA2-EA09-B313-C66041772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table shows the representative results for 17 PCS devices at their middle-level settings when ambient temperature was 25 °C.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would like to emphasize this test conditions because the test conditions affect the results a lot.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Here, I am summarizing the results as the change in equivalent temperature for the whole body by each PCS.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</a:t>
            </a: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Here, you can see that small fans had limited cooling effects of less than 1°C.</a:t>
            </a:r>
            <a:r>
              <a:rPr kumimoji="1" lang="ja-JP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</a:t>
            </a: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</a:t>
            </a: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contrast, standing fans and an evaporative cooler produced moderate cooling effects ranging from 1.8 to 3.0 °C.</a:t>
            </a:r>
            <a:r>
              <a:rPr kumimoji="1" lang="ja-JP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■</a:t>
            </a: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</a:t>
            </a: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heating effects of PCS ranged from approximately 0.5 to 3.0 °C.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heating pad (ID 11) applied to the back had the strongest impact.</a:t>
            </a:r>
            <a:endParaRPr kumimoji="1" lang="ja-JP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2529A8-D7B1-D01D-51D0-FDCD7E439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825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3EA0-3BA0-B51B-0CDD-B6A10953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90247AB-78DA-6F33-5892-26093BBDF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F9E140A-0D82-1333-65B0-DF927BC66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Now, let me show you how this database can actually be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In my opinion, there are two main use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First, for HVAC designers.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They can estimate </a:t>
            </a:r>
            <a:r>
              <a:rPr lang="en-US" altLang="ja-JP" u="sng" dirty="0"/>
              <a:t>how much the indoor setpoint temperature can be relaxed when a selected PCS is used, and how that actually contributes to the energy savings in the buildings</a:t>
            </a:r>
            <a:r>
              <a:rPr lang="en-US" altLang="ja-JP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This figure shows the percentage of HVAC energy savings by relaxing the setpoint temperature in different climate zones.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As an example, let’s looks at Miami data because I think Miami has similar climate here in Singapore.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In the U.S., a typical cooling setpoint is around 22°C, which I think a little too cold.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This standing fan, for example, can relax the setpoint to about 3°C. </a:t>
            </a:r>
            <a:r>
              <a:rPr lang="ja-JP" altLang="en-US" dirty="0"/>
              <a:t>■</a:t>
            </a:r>
            <a:endParaRPr lang="en-US" altLang="ja-JP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ja-JP" altLang="en-US" dirty="0"/>
              <a:t>■</a:t>
            </a:r>
            <a:r>
              <a:rPr lang="en-US" altLang="ja-JP" dirty="0"/>
              <a:t>This corresponds to approximately 25% HVAC energy savings.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The second use case is for researchers.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If you look at the actual database, you can see that there is data for not only the whole-body data, but also for each body segment.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dirty="0"/>
              <a:t>You can use these detailed data for thermal comfort simulation to predict human thermal perception when a PCS is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22990B-1CFF-73CC-35EB-011B3C10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343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That concludes my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dirty="0"/>
              <a:t>If you are interested, there is a QR code below and 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welcome your contributions.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Thank you very much for your kind attention. Now, I would be happy to take any questions.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7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30E7-6E77-0B9F-B62C-C47C9A97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D3F6A14-3C18-F031-A5BD-59F5D39C0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5CC911A-39F6-3593-E4D3-AB4911936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Lastly, I would like to</a:t>
            </a:r>
            <a:r>
              <a:rPr kumimoji="1" lang="ja-JP" altLang="en-US" dirty="0"/>
              <a:t> </a:t>
            </a:r>
            <a:r>
              <a:rPr kumimoji="1" lang="en-US" altLang="ja-JP" dirty="0"/>
              <a:t>point out the limitation of the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First, we only measured dry heat loss, and there is no latent heat loss.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fans should have stronger cooling effect</a:t>
            </a:r>
            <a:r>
              <a:rPr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under sweating conditions.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and the present results would be underestimated to the actual results.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Second, we only showed changes in whole-body equivalent temperature (</a:t>
            </a:r>
            <a:r>
              <a:rPr lang="en-US" altLang="ja-JP" sz="2000" dirty="0" err="1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ja-JP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Teq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We showed that the desk fans had small whole-body cooling effects less than 1oC, they provided stronger localized cooling around the head and upper body like the image below.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This is kind of important because human thermal perception is complex and cooling to one body segment makes people comfortable.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Lastly, convective heat loss by PCS depends on the surrounding air temperature.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n-GB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 depends on different ambient temperature conditions, so we encourage you to access the database for additional results.</a:t>
            </a:r>
            <a:endParaRPr lang="en-US" altLang="ja-JP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87E523-8F9C-7413-E596-F079AB611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A151-78C0-4CE9-8487-9CBDB72103F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380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0E2157-3DAE-28EE-33B1-E4074A30AF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388" y="2969623"/>
            <a:ext cx="10515600" cy="584775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タイトル（推奨</a:t>
            </a:r>
            <a:r>
              <a:rPr kumimoji="1" lang="en-US" altLang="ja-JP" dirty="0"/>
              <a:t>32pt</a:t>
            </a:r>
            <a:r>
              <a:rPr kumimoji="1" lang="ja-JP" altLang="en-US" dirty="0"/>
              <a:t>）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82B41F41-E1A6-187E-05C6-0CD06DE357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388" y="2419858"/>
            <a:ext cx="6145212" cy="33624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ja-JP" altLang="en-US" sz="1400" b="1" dirty="0" smtClean="0">
                <a:solidFill>
                  <a:schemeClr val="tx2"/>
                </a:solidFill>
              </a:defRPr>
            </a:lvl1pPr>
            <a:lvl2pPr>
              <a:defRPr lang="ja-JP" altLang="en-US" sz="1800" dirty="0" smtClean="0"/>
            </a:lvl2pPr>
            <a:lvl3pPr>
              <a:defRPr lang="ja-JP" altLang="en-US" sz="1800" dirty="0" smtClean="0"/>
            </a:lvl3pPr>
            <a:lvl4pPr>
              <a:defRPr lang="ja-JP" altLang="en-US" dirty="0" smtClean="0"/>
            </a:lvl4pPr>
            <a:lvl5pPr>
              <a:defRPr lang="ja-JP" altLang="en-US" dirty="0"/>
            </a:lvl5pPr>
          </a:lstStyle>
          <a:p>
            <a:pPr marL="0" lvl="0"/>
            <a:r>
              <a:rPr kumimoji="1" lang="ja-JP" altLang="en-US" dirty="0"/>
              <a:t>日付（推奨</a:t>
            </a:r>
            <a:r>
              <a:rPr kumimoji="1" lang="en-US" altLang="ja-JP" dirty="0"/>
              <a:t>14pt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5" name="テキスト プレースホルダー 10">
            <a:extLst>
              <a:ext uri="{FF2B5EF4-FFF2-40B4-BE49-F238E27FC236}">
                <a16:creationId xmlns:a16="http://schemas.microsoft.com/office/drawing/2014/main" id="{E802567F-7556-D411-7EF0-3809B3A114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388" y="3905868"/>
            <a:ext cx="6145212" cy="3710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ja-JP" altLang="en-US" sz="1600" b="1" dirty="0" smtClean="0">
                <a:solidFill>
                  <a:schemeClr val="tx1"/>
                </a:solidFill>
              </a:defRPr>
            </a:lvl1pPr>
            <a:lvl2pPr>
              <a:defRPr lang="ja-JP" altLang="en-US" sz="1800" dirty="0" smtClean="0"/>
            </a:lvl2pPr>
            <a:lvl3pPr>
              <a:defRPr lang="ja-JP" altLang="en-US" sz="1800" dirty="0" smtClean="0"/>
            </a:lvl3pPr>
            <a:lvl4pPr>
              <a:defRPr lang="ja-JP" altLang="en-US" dirty="0" smtClean="0"/>
            </a:lvl4pPr>
            <a:lvl5pPr>
              <a:defRPr lang="ja-JP" altLang="en-US" dirty="0"/>
            </a:lvl5pPr>
          </a:lstStyle>
          <a:p>
            <a:pPr marL="0" lvl="0"/>
            <a:r>
              <a:rPr kumimoji="1" lang="ja-JP" altLang="en-US" dirty="0"/>
              <a:t>部門名（推奨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E7D1D23-67B2-9E5D-D7F3-2B95BA5D5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45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4D5D317-6EEC-6803-4865-0CB2B4D7B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33"/>
            <a:ext cx="12192000" cy="6858000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576A8955-072C-DC2C-7CB6-30CF4CD4C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901" y="2836295"/>
            <a:ext cx="10515600" cy="51046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defRPr lang="ja-JP" altLang="en-US" sz="2400" b="1" dirty="0">
                <a:solidFill>
                  <a:schemeClr val="tx2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kumimoji="1" lang="ja-JP" altLang="en-US" dirty="0"/>
              <a:t>タイトル（推奨</a:t>
            </a:r>
            <a:r>
              <a:rPr kumimoji="1" lang="en-US" altLang="ja-JP" dirty="0"/>
              <a:t>24pt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44293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53621F3-90D2-3AE3-D731-27843F127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A53D3163-8D8C-F09F-3783-F3D3918EC3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6500" y="1445623"/>
            <a:ext cx="645957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defRPr lang="ja-JP" altLang="en-US" sz="2400" b="1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kumimoji="1" lang="ja-JP" altLang="en-US" dirty="0"/>
              <a:t>結びの挨拶（推奨</a:t>
            </a:r>
            <a:r>
              <a:rPr kumimoji="1" lang="en-US" altLang="ja-JP" dirty="0"/>
              <a:t>24pt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76108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53621F3-90D2-3AE3-D731-27843F127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8F552E64-0F9D-FDA4-1C8E-4C6AB8E009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2520" y="1346036"/>
            <a:ext cx="4800600" cy="84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51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面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EFC7EB29-85C9-D42D-A13D-05098EF843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70213"/>
            <a:ext cx="8093075" cy="307778"/>
          </a:xfrm>
          <a:prstGeom prst="rect">
            <a:avLst/>
          </a:prstGeom>
          <a:noFill/>
        </p:spPr>
        <p:txBody>
          <a:bodyPr wrap="square" lIns="90000" tIns="46800" rIns="90000" bIns="46800" numCol="1" rtlCol="0" anchor="ctr" anchorCtr="0">
            <a:sp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kumimoji="1" lang="ja-JP" altLang="en-US" dirty="0"/>
              <a:t>タイトル（推奨</a:t>
            </a:r>
            <a:r>
              <a:rPr kumimoji="1" lang="en-US" altLang="ja-JP" dirty="0"/>
              <a:t>14pt</a:t>
            </a:r>
            <a:r>
              <a:rPr kumimoji="1" lang="ja-JP" altLang="en-US" dirty="0"/>
              <a:t>）</a:t>
            </a:r>
          </a:p>
        </p:txBody>
      </p:sp>
      <p:sp>
        <p:nvSpPr>
          <p:cNvPr id="2" name="テキスト プレースホルダー 10">
            <a:extLst>
              <a:ext uri="{FF2B5EF4-FFF2-40B4-BE49-F238E27FC236}">
                <a16:creationId xmlns:a16="http://schemas.microsoft.com/office/drawing/2014/main" id="{BD385F0A-0674-3404-E044-B91D812648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00439" y="119743"/>
            <a:ext cx="278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ja-JP" altLang="en-US" sz="1200" b="1" dirty="0" smtClean="0">
                <a:solidFill>
                  <a:schemeClr val="tx1"/>
                </a:solidFill>
              </a:defRPr>
            </a:lvl1pPr>
            <a:lvl2pPr>
              <a:defRPr lang="ja-JP" altLang="en-US" sz="1800" dirty="0" smtClean="0"/>
            </a:lvl2pPr>
            <a:lvl3pPr>
              <a:defRPr lang="ja-JP" altLang="en-US" sz="1800" dirty="0" smtClean="0"/>
            </a:lvl3pPr>
            <a:lvl4pPr>
              <a:defRPr lang="ja-JP" altLang="en-US" dirty="0" smtClean="0"/>
            </a:lvl4pPr>
            <a:lvl5pPr>
              <a:defRPr lang="ja-JP" altLang="en-US" dirty="0"/>
            </a:lvl5pPr>
          </a:lstStyle>
          <a:p>
            <a:pPr marL="0" lvl="0"/>
            <a:r>
              <a:rPr kumimoji="1" lang="ja-JP" altLang="en-US" dirty="0"/>
              <a:t>部門名（推奨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2028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面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FD8DB3-06F8-10B8-27C7-04BA74AD4E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51460"/>
            <a:ext cx="79679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defRPr lang="ja-JP" altLang="en-US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kumimoji="1" lang="ja-JP" altLang="en-US" dirty="0"/>
              <a:t>タイトル（推奨</a:t>
            </a:r>
            <a:r>
              <a:rPr kumimoji="1" lang="en-US" altLang="ja-JP" dirty="0"/>
              <a:t>28pt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65054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最終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2D1814-140E-C5EE-637B-5FE5A781654C}"/>
              </a:ext>
            </a:extLst>
          </p:cNvPr>
          <p:cNvSpPr/>
          <p:nvPr/>
        </p:nvSpPr>
        <p:spPr>
          <a:xfrm>
            <a:off x="0" y="-1397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C279C637-3649-3CD1-EADE-F3672FB9B4DC}"/>
              </a:ext>
            </a:extLst>
          </p:cNvPr>
          <p:cNvGrpSpPr/>
          <p:nvPr/>
        </p:nvGrpSpPr>
        <p:grpSpPr>
          <a:xfrm>
            <a:off x="12334874" y="0"/>
            <a:ext cx="469077" cy="6858000"/>
            <a:chOff x="12306301" y="-754890"/>
            <a:chExt cx="602426" cy="761289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AD71AFC-C8D9-9BBD-810A-3EDD0E4A831E}"/>
                </a:ext>
              </a:extLst>
            </p:cNvPr>
            <p:cNvSpPr/>
            <p:nvPr/>
          </p:nvSpPr>
          <p:spPr>
            <a:xfrm rot="5400000">
              <a:off x="12104084" y="-552672"/>
              <a:ext cx="1006861" cy="602425"/>
            </a:xfrm>
            <a:prstGeom prst="rect">
              <a:avLst/>
            </a:prstGeom>
            <a:solidFill>
              <a:srgbClr val="861C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0EF270D-61A4-51C2-A691-F25393BB9565}"/>
                </a:ext>
              </a:extLst>
            </p:cNvPr>
            <p:cNvSpPr/>
            <p:nvPr/>
          </p:nvSpPr>
          <p:spPr>
            <a:xfrm rot="5400000">
              <a:off x="12104084" y="547643"/>
              <a:ext cx="1006862" cy="602425"/>
            </a:xfrm>
            <a:prstGeom prst="rect">
              <a:avLst/>
            </a:prstGeom>
            <a:solidFill>
              <a:srgbClr val="3E3A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8A00C7C-F0BF-21EF-C027-AD5D56248CD2}"/>
                </a:ext>
              </a:extLst>
            </p:cNvPr>
            <p:cNvSpPr/>
            <p:nvPr/>
          </p:nvSpPr>
          <p:spPr>
            <a:xfrm rot="5400000">
              <a:off x="12104084" y="1647959"/>
              <a:ext cx="1006862" cy="602425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2B44614E-C8A5-D469-CB57-4FC88591667A}"/>
                </a:ext>
              </a:extLst>
            </p:cNvPr>
            <p:cNvGrpSpPr/>
            <p:nvPr/>
          </p:nvGrpSpPr>
          <p:grpSpPr>
            <a:xfrm flipH="1">
              <a:off x="12306301" y="3647407"/>
              <a:ext cx="602425" cy="1007896"/>
              <a:chOff x="-901704" y="3609502"/>
              <a:chExt cx="729429" cy="1007896"/>
            </a:xfrm>
          </p:grpSpPr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FD3ACE70-CAB5-77BA-E92F-CCC6A67CE2BB}"/>
                  </a:ext>
                </a:extLst>
              </p:cNvPr>
              <p:cNvSpPr/>
              <p:nvPr/>
            </p:nvSpPr>
            <p:spPr>
              <a:xfrm rot="5400000">
                <a:off x="-883431" y="3906242"/>
                <a:ext cx="1007895" cy="414416"/>
              </a:xfrm>
              <a:prstGeom prst="rect">
                <a:avLst/>
              </a:prstGeom>
              <a:solidFill>
                <a:srgbClr val="1E51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06D11B25-13B2-170F-5A44-C5315FE28338}"/>
                  </a:ext>
                </a:extLst>
              </p:cNvPr>
              <p:cNvGrpSpPr/>
              <p:nvPr/>
            </p:nvGrpSpPr>
            <p:grpSpPr>
              <a:xfrm rot="5400000">
                <a:off x="-1248146" y="3955945"/>
                <a:ext cx="1007895" cy="315011"/>
                <a:chOff x="3514663" y="5343525"/>
                <a:chExt cx="2444995" cy="379313"/>
              </a:xfrm>
            </p:grpSpPr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5E2C8F48-D0EB-27BF-FAD6-AC1C17C63BC2}"/>
                    </a:ext>
                  </a:extLst>
                </p:cNvPr>
                <p:cNvSpPr/>
                <p:nvPr/>
              </p:nvSpPr>
              <p:spPr>
                <a:xfrm>
                  <a:off x="3514663" y="5343525"/>
                  <a:ext cx="611249" cy="379313"/>
                </a:xfrm>
                <a:prstGeom prst="rect">
                  <a:avLst/>
                </a:prstGeom>
                <a:solidFill>
                  <a:srgbClr val="4773B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0B392EA7-D7AC-CDEE-8731-1C0469A2C47F}"/>
                    </a:ext>
                  </a:extLst>
                </p:cNvPr>
                <p:cNvSpPr/>
                <p:nvPr/>
              </p:nvSpPr>
              <p:spPr>
                <a:xfrm>
                  <a:off x="4125912" y="5343525"/>
                  <a:ext cx="611249" cy="379313"/>
                </a:xfrm>
                <a:prstGeom prst="rect">
                  <a:avLst/>
                </a:prstGeom>
                <a:solidFill>
                  <a:srgbClr val="7C9F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2328579D-7D3E-1412-E2AB-15677F1AE9F2}"/>
                    </a:ext>
                  </a:extLst>
                </p:cNvPr>
                <p:cNvSpPr/>
                <p:nvPr/>
              </p:nvSpPr>
              <p:spPr>
                <a:xfrm>
                  <a:off x="4737161" y="5343525"/>
                  <a:ext cx="611249" cy="379313"/>
                </a:xfrm>
                <a:prstGeom prst="rect">
                  <a:avLst/>
                </a:prstGeom>
                <a:solidFill>
                  <a:srgbClr val="A2BBE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34" name="正方形/長方形 33">
                  <a:extLst>
                    <a:ext uri="{FF2B5EF4-FFF2-40B4-BE49-F238E27FC236}">
                      <a16:creationId xmlns:a16="http://schemas.microsoft.com/office/drawing/2014/main" id="{C794FFFB-C6AA-9304-CEAD-F7093463F9D6}"/>
                    </a:ext>
                  </a:extLst>
                </p:cNvPr>
                <p:cNvSpPr/>
                <p:nvPr/>
              </p:nvSpPr>
              <p:spPr>
                <a:xfrm>
                  <a:off x="5348409" y="5343525"/>
                  <a:ext cx="611249" cy="379313"/>
                </a:xfrm>
                <a:prstGeom prst="rect">
                  <a:avLst/>
                </a:prstGeom>
                <a:solidFill>
                  <a:srgbClr val="D2DDF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</p:grp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ED670029-969A-73FF-F0F7-DD1273FFCAD8}"/>
                </a:ext>
              </a:extLst>
            </p:cNvPr>
            <p:cNvGrpSpPr/>
            <p:nvPr/>
          </p:nvGrpSpPr>
          <p:grpSpPr>
            <a:xfrm flipH="1">
              <a:off x="12306302" y="2546057"/>
              <a:ext cx="602423" cy="1007896"/>
              <a:chOff x="-901702" y="2489201"/>
              <a:chExt cx="729427" cy="1007896"/>
            </a:xfrm>
          </p:grpSpPr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F51AA561-FE25-50B8-DB54-B53E463AD821}"/>
                  </a:ext>
                </a:extLst>
              </p:cNvPr>
              <p:cNvSpPr/>
              <p:nvPr/>
            </p:nvSpPr>
            <p:spPr>
              <a:xfrm rot="5400000">
                <a:off x="-883431" y="2785941"/>
                <a:ext cx="1007895" cy="414416"/>
              </a:xfrm>
              <a:prstGeom prst="rect">
                <a:avLst/>
              </a:prstGeom>
              <a:solidFill>
                <a:srgbClr val="AD31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71E088DC-22E4-D65C-1AB6-152051103415}"/>
                  </a:ext>
                </a:extLst>
              </p:cNvPr>
              <p:cNvGrpSpPr/>
              <p:nvPr/>
            </p:nvGrpSpPr>
            <p:grpSpPr>
              <a:xfrm rot="5400000">
                <a:off x="-1248145" y="2835645"/>
                <a:ext cx="1007895" cy="315010"/>
                <a:chOff x="796987" y="5267325"/>
                <a:chExt cx="2444995" cy="455513"/>
              </a:xfrm>
            </p:grpSpPr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E93D5EDD-F0C3-9CCD-CA43-7B913DD5F6AE}"/>
                    </a:ext>
                  </a:extLst>
                </p:cNvPr>
                <p:cNvSpPr/>
                <p:nvPr/>
              </p:nvSpPr>
              <p:spPr>
                <a:xfrm>
                  <a:off x="796987" y="5267325"/>
                  <a:ext cx="611249" cy="455513"/>
                </a:xfrm>
                <a:prstGeom prst="rect">
                  <a:avLst/>
                </a:prstGeom>
                <a:solidFill>
                  <a:srgbClr val="BD558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47F653D0-AD78-0FFC-ADC7-BEFA17D49C23}"/>
                    </a:ext>
                  </a:extLst>
                </p:cNvPr>
                <p:cNvSpPr/>
                <p:nvPr/>
              </p:nvSpPr>
              <p:spPr>
                <a:xfrm>
                  <a:off x="1408236" y="5267325"/>
                  <a:ext cx="611249" cy="455513"/>
                </a:xfrm>
                <a:prstGeom prst="rect">
                  <a:avLst/>
                </a:prstGeom>
                <a:solidFill>
                  <a:srgbClr val="D086A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DAEC5BAC-6E42-FDFA-E216-339F02671E16}"/>
                    </a:ext>
                  </a:extLst>
                </p:cNvPr>
                <p:cNvSpPr/>
                <p:nvPr/>
              </p:nvSpPr>
              <p:spPr>
                <a:xfrm>
                  <a:off x="2019485" y="5267325"/>
                  <a:ext cx="611249" cy="455513"/>
                </a:xfrm>
                <a:prstGeom prst="rect">
                  <a:avLst/>
                </a:prstGeom>
                <a:solidFill>
                  <a:srgbClr val="DCA8C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DE303215-515B-6916-6EBB-44F8FBD0F15E}"/>
                    </a:ext>
                  </a:extLst>
                </p:cNvPr>
                <p:cNvSpPr/>
                <p:nvPr/>
              </p:nvSpPr>
              <p:spPr>
                <a:xfrm>
                  <a:off x="2630733" y="5267325"/>
                  <a:ext cx="611249" cy="455513"/>
                </a:xfrm>
                <a:prstGeom prst="rect">
                  <a:avLst/>
                </a:prstGeom>
                <a:solidFill>
                  <a:srgbClr val="F1D7E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</p:grp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36478273-ECC9-DE6D-6C48-B3510DAFC786}"/>
                </a:ext>
              </a:extLst>
            </p:cNvPr>
            <p:cNvGrpSpPr/>
            <p:nvPr/>
          </p:nvGrpSpPr>
          <p:grpSpPr>
            <a:xfrm flipH="1">
              <a:off x="12306302" y="4748757"/>
              <a:ext cx="602423" cy="1007896"/>
              <a:chOff x="-901702" y="4729804"/>
              <a:chExt cx="729427" cy="1007896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E1235AF6-52DF-83B3-FCEB-241B0F14DE96}"/>
                  </a:ext>
                </a:extLst>
              </p:cNvPr>
              <p:cNvSpPr/>
              <p:nvPr/>
            </p:nvSpPr>
            <p:spPr>
              <a:xfrm rot="5400000">
                <a:off x="-883431" y="5026544"/>
                <a:ext cx="1007895" cy="414416"/>
              </a:xfrm>
              <a:prstGeom prst="rect">
                <a:avLst/>
              </a:prstGeom>
              <a:solidFill>
                <a:srgbClr val="DC4F0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8" name="グループ化 17">
                <a:extLst>
                  <a:ext uri="{FF2B5EF4-FFF2-40B4-BE49-F238E27FC236}">
                    <a16:creationId xmlns:a16="http://schemas.microsoft.com/office/drawing/2014/main" id="{F2200434-8136-9D18-63BE-FB46BE616485}"/>
                  </a:ext>
                </a:extLst>
              </p:cNvPr>
              <p:cNvGrpSpPr/>
              <p:nvPr/>
            </p:nvGrpSpPr>
            <p:grpSpPr>
              <a:xfrm rot="5400000">
                <a:off x="-1248145" y="5076248"/>
                <a:ext cx="1007895" cy="315010"/>
                <a:chOff x="6232341" y="5267325"/>
                <a:chExt cx="2444995" cy="455513"/>
              </a:xfrm>
            </p:grpSpPr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3814864B-2D5B-B0AD-F41A-FD5205F3E5D6}"/>
                    </a:ext>
                  </a:extLst>
                </p:cNvPr>
                <p:cNvSpPr/>
                <p:nvPr/>
              </p:nvSpPr>
              <p:spPr>
                <a:xfrm>
                  <a:off x="6232341" y="5267325"/>
                  <a:ext cx="611249" cy="455513"/>
                </a:xfrm>
                <a:prstGeom prst="rect">
                  <a:avLst/>
                </a:prstGeom>
                <a:solidFill>
                  <a:srgbClr val="E6753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304E250E-E163-ACAA-CE64-F9CBAB829179}"/>
                    </a:ext>
                  </a:extLst>
                </p:cNvPr>
                <p:cNvSpPr/>
                <p:nvPr/>
              </p:nvSpPr>
              <p:spPr>
                <a:xfrm>
                  <a:off x="6843590" y="5267325"/>
                  <a:ext cx="611249" cy="455513"/>
                </a:xfrm>
                <a:prstGeom prst="rect">
                  <a:avLst/>
                </a:prstGeom>
                <a:solidFill>
                  <a:srgbClr val="EB946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FFEFADC0-70FB-CCEF-D7C4-C9DA8BAC70E5}"/>
                    </a:ext>
                  </a:extLst>
                </p:cNvPr>
                <p:cNvSpPr/>
                <p:nvPr/>
              </p:nvSpPr>
              <p:spPr>
                <a:xfrm>
                  <a:off x="7454839" y="5267325"/>
                  <a:ext cx="611249" cy="455513"/>
                </a:xfrm>
                <a:prstGeom prst="rect">
                  <a:avLst/>
                </a:prstGeom>
                <a:solidFill>
                  <a:srgbClr val="EFB59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E780F9CA-6E57-EDA1-A86B-04FBA687E13D}"/>
                    </a:ext>
                  </a:extLst>
                </p:cNvPr>
                <p:cNvSpPr/>
                <p:nvPr/>
              </p:nvSpPr>
              <p:spPr>
                <a:xfrm>
                  <a:off x="8066087" y="5267325"/>
                  <a:ext cx="611249" cy="455513"/>
                </a:xfrm>
                <a:prstGeom prst="rect">
                  <a:avLst/>
                </a:prstGeom>
                <a:solidFill>
                  <a:srgbClr val="FAD9C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</p:grp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24B63774-FB11-78DC-7253-B2CB9E2924C6}"/>
                </a:ext>
              </a:extLst>
            </p:cNvPr>
            <p:cNvGrpSpPr/>
            <p:nvPr/>
          </p:nvGrpSpPr>
          <p:grpSpPr>
            <a:xfrm flipH="1">
              <a:off x="12306302" y="5850106"/>
              <a:ext cx="602423" cy="1007896"/>
              <a:chOff x="-901702" y="5850105"/>
              <a:chExt cx="729427" cy="1007896"/>
            </a:xfrm>
          </p:grpSpPr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0B0D7A07-E6A0-451C-2BBB-1C67BE005484}"/>
                  </a:ext>
                </a:extLst>
              </p:cNvPr>
              <p:cNvSpPr/>
              <p:nvPr/>
            </p:nvSpPr>
            <p:spPr>
              <a:xfrm rot="5400000">
                <a:off x="-883431" y="6146845"/>
                <a:ext cx="1007895" cy="414416"/>
              </a:xfrm>
              <a:prstGeom prst="rect">
                <a:avLst/>
              </a:prstGeom>
              <a:solidFill>
                <a:srgbClr val="2F5B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CABC975A-70C8-22C2-8AF2-0739FE99F66F}"/>
                  </a:ext>
                </a:extLst>
              </p:cNvPr>
              <p:cNvGrpSpPr/>
              <p:nvPr/>
            </p:nvGrpSpPr>
            <p:grpSpPr>
              <a:xfrm rot="5400000">
                <a:off x="-1248145" y="6196549"/>
                <a:ext cx="1007895" cy="315010"/>
                <a:chOff x="8950017" y="5267325"/>
                <a:chExt cx="2444995" cy="455513"/>
              </a:xfrm>
            </p:grpSpPr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66ED864A-8902-7F0E-9D9B-323929AF026D}"/>
                    </a:ext>
                  </a:extLst>
                </p:cNvPr>
                <p:cNvSpPr/>
                <p:nvPr/>
              </p:nvSpPr>
              <p:spPr>
                <a:xfrm>
                  <a:off x="8950017" y="5267325"/>
                  <a:ext cx="611249" cy="455513"/>
                </a:xfrm>
                <a:prstGeom prst="rect">
                  <a:avLst/>
                </a:prstGeom>
                <a:solidFill>
                  <a:srgbClr val="48777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7E763653-8E3C-4AAE-99BE-4EE6DD9A208D}"/>
                    </a:ext>
                  </a:extLst>
                </p:cNvPr>
                <p:cNvSpPr/>
                <p:nvPr/>
              </p:nvSpPr>
              <p:spPr>
                <a:xfrm>
                  <a:off x="9561266" y="5267325"/>
                  <a:ext cx="611249" cy="455513"/>
                </a:xfrm>
                <a:prstGeom prst="rect">
                  <a:avLst/>
                </a:prstGeom>
                <a:solidFill>
                  <a:srgbClr val="72999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AE57D523-E476-FD97-C73F-CF6B26B8DB11}"/>
                    </a:ext>
                  </a:extLst>
                </p:cNvPr>
                <p:cNvSpPr/>
                <p:nvPr/>
              </p:nvSpPr>
              <p:spPr>
                <a:xfrm>
                  <a:off x="10172515" y="5267325"/>
                  <a:ext cx="611249" cy="455513"/>
                </a:xfrm>
                <a:prstGeom prst="rect">
                  <a:avLst/>
                </a:prstGeom>
                <a:solidFill>
                  <a:srgbClr val="98B4B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4A4DEAF0-64F9-D8E6-F15D-5D496A67D7C2}"/>
                    </a:ext>
                  </a:extLst>
                </p:cNvPr>
                <p:cNvSpPr/>
                <p:nvPr/>
              </p:nvSpPr>
              <p:spPr>
                <a:xfrm>
                  <a:off x="10783763" y="5267325"/>
                  <a:ext cx="611249" cy="455513"/>
                </a:xfrm>
                <a:prstGeom prst="rect">
                  <a:avLst/>
                </a:prstGeom>
                <a:solidFill>
                  <a:srgbClr val="C7D7D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100" dirty="0">
                    <a:solidFill>
                      <a:srgbClr val="3E3A39"/>
                    </a:solidFill>
                  </a:endParaRPr>
                </a:p>
              </p:txBody>
            </p:sp>
          </p:grpSp>
        </p:grpSp>
      </p:grpSp>
      <p:pic>
        <p:nvPicPr>
          <p:cNvPr id="35" name="図 34">
            <a:extLst>
              <a:ext uri="{FF2B5EF4-FFF2-40B4-BE49-F238E27FC236}">
                <a16:creationId xmlns:a16="http://schemas.microsoft.com/office/drawing/2014/main" id="{9AF51834-9BB9-3B8A-F23B-80075F5B2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42F62941-8552-2369-BD6A-CD708B603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" y="1346036"/>
            <a:ext cx="4800600" cy="848524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E5CF45D5-DC9F-2EF0-8576-2656D22B0A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905CB622-CE8A-10C8-02EB-770176697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2520" y="1346036"/>
            <a:ext cx="4800600" cy="84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74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8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0" r:id="rId2"/>
    <p:sldLayoutId id="2147483671" r:id="rId3"/>
    <p:sldLayoutId id="214748367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altLang="en-US" sz="3200" b="1" kern="1200" dirty="0">
          <a:solidFill>
            <a:srgbClr val="3E3A39"/>
          </a:solidFill>
          <a:latin typeface="+mn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F28187B-06F5-801B-29E0-9CF15CF8BC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3" name="スライド番号プレースホルダー 5">
            <a:extLst>
              <a:ext uri="{FF2B5EF4-FFF2-40B4-BE49-F238E27FC236}">
                <a16:creationId xmlns:a16="http://schemas.microsoft.com/office/drawing/2014/main" id="{14E0DA57-10F1-BD7E-2E06-B8CCDFFAF4D1}"/>
              </a:ext>
            </a:extLst>
          </p:cNvPr>
          <p:cNvSpPr txBox="1">
            <a:spLocks/>
          </p:cNvSpPr>
          <p:nvPr userDrawn="1"/>
        </p:nvSpPr>
        <p:spPr>
          <a:xfrm>
            <a:off x="11528425" y="118087"/>
            <a:ext cx="593906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kumimoji="1" sz="1200" b="1" kern="1200">
                <a:solidFill>
                  <a:srgbClr val="3E3A3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039175-7A3B-4BA9-AEFC-2B1B7C4F65C9}" type="slidenum">
              <a:rPr lang="ja-JP" alt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ja-JP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3E1B4A-1E09-775D-171A-1B63119C5B61}"/>
              </a:ext>
            </a:extLst>
          </p:cNvPr>
          <p:cNvSpPr txBox="1"/>
          <p:nvPr userDrawn="1"/>
        </p:nvSpPr>
        <p:spPr>
          <a:xfrm>
            <a:off x="10538461" y="6703371"/>
            <a:ext cx="13261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ja-JP" sz="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©Takenaka Corporation</a:t>
            </a:r>
          </a:p>
        </p:txBody>
      </p:sp>
    </p:spTree>
    <p:extLst>
      <p:ext uri="{BB962C8B-B14F-4D97-AF65-F5344CB8AC3E}">
        <p14:creationId xmlns:p14="http://schemas.microsoft.com/office/powerpoint/2010/main" val="293024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altLang="en-US" sz="1400" b="1" kern="1200">
          <a:solidFill>
            <a:srgbClr val="3E3A39"/>
          </a:solidFill>
          <a:latin typeface="+mn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11">
          <p15:clr>
            <a:srgbClr val="5ACBF0"/>
          </p15:clr>
        </p15:guide>
        <p15:guide id="4" pos="7469">
          <p15:clr>
            <a:srgbClr val="5ACBF0"/>
          </p15:clr>
        </p15:guide>
        <p15:guide id="5" orient="horz" pos="346">
          <p15:clr>
            <a:srgbClr val="5ACBF0"/>
          </p15:clr>
        </p15:guide>
        <p15:guide id="6" orient="horz" pos="420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283C43F-8D1A-05CE-BCA8-2049951B632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974BEA99-719A-CDEF-9F44-0DFCECCA43EC}"/>
              </a:ext>
            </a:extLst>
          </p:cNvPr>
          <p:cNvSpPr txBox="1">
            <a:spLocks/>
          </p:cNvSpPr>
          <p:nvPr userDrawn="1"/>
        </p:nvSpPr>
        <p:spPr>
          <a:xfrm>
            <a:off x="11528425" y="201609"/>
            <a:ext cx="593906" cy="338554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039175-7A3B-4BA9-AEFC-2B1B7C4F65C9}" type="slidenum">
              <a:rPr lang="ja-JP" alt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ja-JP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C5F1EE4-E55E-D11B-7C4F-FF3806B8A0E6}"/>
              </a:ext>
            </a:extLst>
          </p:cNvPr>
          <p:cNvSpPr txBox="1"/>
          <p:nvPr userDrawn="1"/>
        </p:nvSpPr>
        <p:spPr>
          <a:xfrm>
            <a:off x="10538461" y="6703371"/>
            <a:ext cx="13261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ja-JP" sz="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©Takenaka Corporation</a:t>
            </a:r>
          </a:p>
        </p:txBody>
      </p:sp>
    </p:spTree>
    <p:extLst>
      <p:ext uri="{BB962C8B-B14F-4D97-AF65-F5344CB8AC3E}">
        <p14:creationId xmlns:p14="http://schemas.microsoft.com/office/powerpoint/2010/main" val="11906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11">
          <p15:clr>
            <a:srgbClr val="5ACBF0"/>
          </p15:clr>
        </p15:guide>
        <p15:guide id="4" pos="7469">
          <p15:clr>
            <a:srgbClr val="5ACBF0"/>
          </p15:clr>
        </p15:guide>
        <p15:guide id="5" orient="horz" pos="459">
          <p15:clr>
            <a:srgbClr val="5ACBF0"/>
          </p15:clr>
        </p15:guide>
        <p15:guide id="6" orient="horz" pos="420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hyperlink" Target="https://github.com/IEQLab/pcs_database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hyperlink" Target="https://doi.org/10.1016/j.buildenv.2015.03.013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23.png"/><Relationship Id="rId3" Type="http://schemas.openxmlformats.org/officeDocument/2006/relationships/image" Target="../media/image17.jpeg"/><Relationship Id="rId7" Type="http://schemas.openxmlformats.org/officeDocument/2006/relationships/image" Target="../media/image20.png"/><Relationship Id="rId12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9.emf"/><Relationship Id="rId15" Type="http://schemas.openxmlformats.org/officeDocument/2006/relationships/image" Target="../media/image24.png"/><Relationship Id="rId10" Type="http://schemas.openxmlformats.org/officeDocument/2006/relationships/customXml" Target="../ink/ink2.xml"/><Relationship Id="rId4" Type="http://schemas.openxmlformats.org/officeDocument/2006/relationships/image" Target="../media/image18.jpg"/><Relationship Id="rId9" Type="http://schemas.openxmlformats.org/officeDocument/2006/relationships/image" Target="../media/image21.png"/><Relationship Id="rId1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hyperlink" Target="https://abc.cbe.berkeley.edu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hyperlink" Target="https://doi.org/10.1016/j.buildenv.2014.09.01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91103C-AE19-AD36-BC21-37F6DCED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7" y="2784956"/>
            <a:ext cx="11393487" cy="954107"/>
          </a:xfrm>
        </p:spPr>
        <p:txBody>
          <a:bodyPr/>
          <a:lstStyle/>
          <a:p>
            <a:r>
              <a:rPr lang="en-GB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Supporting PCS Adoption: </a:t>
            </a:r>
            <a:br>
              <a:rPr lang="en-GB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</a:br>
            <a:r>
              <a:rPr lang="en-GB" altLang="ja-JP" sz="24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A Database of Cooling and Heating Effects for Designers and Practitioners</a:t>
            </a:r>
            <a:r>
              <a:rPr lang="ja-JP" altLang="en-US" sz="24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　</a:t>
            </a:r>
            <a:endParaRPr kumimoji="1" lang="ja-JP" altLang="en-US" sz="2800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31FBC4-6E5C-8F93-8B1D-DCFA2530E2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388" y="2387156"/>
            <a:ext cx="6145212" cy="336246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2026/</a:t>
            </a:r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06</a:t>
            </a:r>
            <a:r>
              <a:rPr kumimoji="1"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/</a:t>
            </a:r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16</a:t>
            </a:r>
            <a:r>
              <a:rPr kumimoji="1"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 Indoor Air 2026 conference presentation (ID: XXX)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014879-F936-FBAA-F4CF-0DED92B82B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4210402"/>
            <a:ext cx="11469052" cy="656077"/>
          </a:xfrm>
        </p:spPr>
        <p:txBody>
          <a:bodyPr/>
          <a:lstStyle/>
          <a:p>
            <a:r>
              <a:rPr kumimoji="1" lang="pt-BR" altLang="ja-JP" b="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Akihisa Nomoto (</a:t>
            </a:r>
            <a:r>
              <a:rPr lang="en-GB" altLang="ja-JP" b="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Takenaka Corporation, Japan</a:t>
            </a:r>
            <a:r>
              <a:rPr kumimoji="1" lang="pt-BR" altLang="ja-JP" b="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),</a:t>
            </a:r>
            <a:endParaRPr lang="pt-BR" altLang="ja-JP" b="0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  <a:p>
            <a:r>
              <a:rPr kumimoji="1" lang="pt-BR" altLang="ja-JP" b="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Maíra André, Thomas Parkinson (</a:t>
            </a:r>
            <a:r>
              <a:rPr lang="en-GB" altLang="ja-JP" b="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IEQ Lab,</a:t>
            </a:r>
            <a:r>
              <a:rPr lang="en-GB" altLang="ja-JP" b="0" i="1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 </a:t>
            </a:r>
            <a:r>
              <a:rPr lang="en-GB" altLang="ja-JP" b="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The University of Sydney, Australia</a:t>
            </a:r>
            <a:r>
              <a:rPr kumimoji="1" lang="pt-BR" altLang="ja-JP" b="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)</a:t>
            </a:r>
            <a:endParaRPr kumimoji="1" lang="ja-JP" altLang="en-US" b="0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A78257E-DDB5-41BD-F680-EA3C9F2EE4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0387" y="1255977"/>
            <a:ext cx="2513013" cy="767634"/>
          </a:xfrm>
          <a:prstGeom prst="rect">
            <a:avLst/>
          </a:prstGeom>
        </p:spPr>
      </p:pic>
      <p:pic>
        <p:nvPicPr>
          <p:cNvPr id="8" name="図 7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13FEB763-D955-4220-80A6-3D3184677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182" y="5758009"/>
            <a:ext cx="892762" cy="89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6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DBDD79-D588-B9A1-C089-F8142C67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00703"/>
            <a:ext cx="7967980" cy="424732"/>
          </a:xfrm>
        </p:spPr>
        <p:txBody>
          <a:bodyPr/>
          <a:lstStyle/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B636F62-CF6D-C2C7-0692-8F5310DE664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578" y="2571458"/>
            <a:ext cx="9603921" cy="3412458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878DA2A-AA3F-77B0-61D0-D3EE04D20076}"/>
              </a:ext>
            </a:extLst>
          </p:cNvPr>
          <p:cNvSpPr txBox="1">
            <a:spLocks/>
          </p:cNvSpPr>
          <p:nvPr/>
        </p:nvSpPr>
        <p:spPr>
          <a:xfrm>
            <a:off x="493500" y="874084"/>
            <a:ext cx="10975066" cy="1139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1"/>
              </a:buClr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developed an open-access database quantifying the cooling and heating effects of commercially available Personal Comfort Systems (PCS).</a:t>
            </a: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The database is publicly available on GitHub at: </a:t>
            </a: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https://github.com/IEQLab/pcs_database</a:t>
            </a: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Clr>
                <a:schemeClr val="accent1"/>
              </a:buClr>
            </a:pPr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図 6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D7BB519B-7F13-B633-FAC1-928EF2BA6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335" y="3638969"/>
            <a:ext cx="1312086" cy="131208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FE16F9-1C52-75F0-7146-83970FB63652}"/>
              </a:ext>
            </a:extLst>
          </p:cNvPr>
          <p:cNvSpPr txBox="1"/>
          <p:nvPr/>
        </p:nvSpPr>
        <p:spPr>
          <a:xfrm>
            <a:off x="10387334" y="5030927"/>
            <a:ext cx="1312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To GitHub repo</a:t>
            </a:r>
            <a:endParaRPr kumimoji="1" lang="ja-JP" altLang="en-US" sz="1600" b="1" dirty="0">
              <a:solidFill>
                <a:srgbClr val="3E3A39"/>
              </a:solidFill>
              <a:effectLst>
                <a:glow rad="101600">
                  <a:schemeClr val="bg1"/>
                </a:glow>
              </a:effectLst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8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4CFE-ABCF-0B6C-4DB3-F6709A04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065660D8-B4B9-3CC5-D902-A51420EBA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0704"/>
            <a:ext cx="10408619" cy="424732"/>
          </a:xfrm>
        </p:spPr>
        <p:txBody>
          <a:bodyPr/>
          <a:lstStyle/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0DA33B-E934-A469-57E1-D44080C21CDA}"/>
              </a:ext>
            </a:extLst>
          </p:cNvPr>
          <p:cNvSpPr txBox="1">
            <a:spLocks/>
          </p:cNvSpPr>
          <p:nvPr/>
        </p:nvSpPr>
        <p:spPr>
          <a:xfrm>
            <a:off x="393699" y="874083"/>
            <a:ext cx="5702301" cy="897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Personal Comfort Systems (PCS)</a:t>
            </a:r>
            <a:endParaRPr lang="en-US" altLang="ja-JP" sz="1800" dirty="0">
              <a:solidFill>
                <a:srgbClr val="3E3A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Devices that directly heat or cool occupants</a:t>
            </a:r>
          </a:p>
          <a:p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F7FD7FA-38B8-F1BD-1225-AA2E51239176}"/>
              </a:ext>
            </a:extLst>
          </p:cNvPr>
          <p:cNvGrpSpPr/>
          <p:nvPr/>
        </p:nvGrpSpPr>
        <p:grpSpPr>
          <a:xfrm>
            <a:off x="6372936" y="3429000"/>
            <a:ext cx="5141479" cy="2994394"/>
            <a:chOff x="6714676" y="3724275"/>
            <a:chExt cx="4653505" cy="271019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41EDFB27-6702-52F6-455E-85B2059E0C72}"/>
                </a:ext>
              </a:extLst>
            </p:cNvPr>
            <p:cNvGrpSpPr/>
            <p:nvPr/>
          </p:nvGrpSpPr>
          <p:grpSpPr>
            <a:xfrm>
              <a:off x="6714676" y="3724275"/>
              <a:ext cx="4653505" cy="2393511"/>
              <a:chOff x="6714676" y="3724275"/>
              <a:chExt cx="4653505" cy="2393511"/>
            </a:xfrm>
          </p:grpSpPr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54CE4568-670F-8542-427D-D58907E2D3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4676" y="3724275"/>
                <a:ext cx="3002896" cy="2198810"/>
              </a:xfrm>
              <a:prstGeom prst="rect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</p:pic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E5013D5B-3B82-C402-2138-6D89050434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26307"/>
              <a:stretch>
                <a:fillRect/>
              </a:stretch>
            </p:blipFill>
            <p:spPr>
              <a:xfrm>
                <a:off x="7796756" y="4189919"/>
                <a:ext cx="3571425" cy="1927867"/>
              </a:xfrm>
              <a:prstGeom prst="rect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</p:pic>
        </p:grp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F8846F8-8D87-6001-D55D-9B8CED9D571E}"/>
                </a:ext>
              </a:extLst>
            </p:cNvPr>
            <p:cNvSpPr txBox="1"/>
            <p:nvPr/>
          </p:nvSpPr>
          <p:spPr>
            <a:xfrm>
              <a:off x="7209515" y="6155907"/>
              <a:ext cx="3715950" cy="2785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Summary table of PCS studies (Zhang et al., </a:t>
              </a:r>
              <a:r>
                <a:rPr lang="en-US" altLang="ja-JP" sz="14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5"/>
                </a:rPr>
                <a:t>link</a:t>
              </a:r>
              <a:r>
                <a:rPr lang="en-US" altLang="ja-JP" sz="14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D3E45F6-28F9-9B11-94AE-B1DBE405F2EB}"/>
              </a:ext>
            </a:extLst>
          </p:cNvPr>
          <p:cNvGrpSpPr/>
          <p:nvPr/>
        </p:nvGrpSpPr>
        <p:grpSpPr>
          <a:xfrm>
            <a:off x="6105965" y="982616"/>
            <a:ext cx="5676412" cy="2104904"/>
            <a:chOff x="6054111" y="982616"/>
            <a:chExt cx="5676412" cy="2104904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7CD490A-C58A-2B03-A15D-A6DD14583B90}"/>
                </a:ext>
              </a:extLst>
            </p:cNvPr>
            <p:cNvSpPr txBox="1"/>
            <p:nvPr/>
          </p:nvSpPr>
          <p:spPr>
            <a:xfrm>
              <a:off x="8216154" y="2779743"/>
              <a:ext cx="16001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Examples of PCS</a:t>
              </a:r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267D9C21-3F98-9A2C-E06F-2998A785BD93}"/>
                </a:ext>
              </a:extLst>
            </p:cNvPr>
            <p:cNvGrpSpPr/>
            <p:nvPr/>
          </p:nvGrpSpPr>
          <p:grpSpPr>
            <a:xfrm>
              <a:off x="6054111" y="982616"/>
              <a:ext cx="5676412" cy="1743880"/>
              <a:chOff x="6148914" y="802630"/>
              <a:chExt cx="5676412" cy="1743880"/>
            </a:xfrm>
          </p:grpSpPr>
          <p:pic>
            <p:nvPicPr>
              <p:cNvPr id="15" name="Picture 15" descr="A green fan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2085ACB3-B653-E2BA-E0ED-184B778BFF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48914" y="930802"/>
                <a:ext cx="1403892" cy="1487536"/>
              </a:xfrm>
              <a:prstGeom prst="rect">
                <a:avLst/>
              </a:prstGeom>
            </p:spPr>
          </p:pic>
          <p:pic>
            <p:nvPicPr>
              <p:cNvPr id="16" name="Picture 29" descr="A fan on a stand&#10;&#10;AI-generated content may be incorrect.">
                <a:extLst>
                  <a:ext uri="{FF2B5EF4-FFF2-40B4-BE49-F238E27FC236}">
                    <a16:creationId xmlns:a16="http://schemas.microsoft.com/office/drawing/2014/main" id="{686BD86B-91DE-E495-713A-B009DB9245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62650" y="802630"/>
                <a:ext cx="848742" cy="1743880"/>
              </a:xfrm>
              <a:prstGeom prst="rect">
                <a:avLst/>
              </a:prstGeom>
            </p:spPr>
          </p:pic>
          <p:pic>
            <p:nvPicPr>
              <p:cNvPr id="17" name="Picture 52" descr="A black heater with a cord&#10;&#10;AI-generated content may be incorrect.">
                <a:extLst>
                  <a:ext uri="{FF2B5EF4-FFF2-40B4-BE49-F238E27FC236}">
                    <a16:creationId xmlns:a16="http://schemas.microsoft.com/office/drawing/2014/main" id="{A456BA14-44CF-2F21-5886-706E31026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642006" y="883411"/>
                <a:ext cx="1319710" cy="1582318"/>
              </a:xfrm>
              <a:prstGeom prst="rect">
                <a:avLst/>
              </a:prstGeom>
            </p:spPr>
          </p:pic>
          <p:pic>
            <p:nvPicPr>
              <p:cNvPr id="18" name="Picture 50" descr="A grey fabric folding screen&#10;&#10;AI-generated content may be incorrect.">
                <a:extLst>
                  <a:ext uri="{FF2B5EF4-FFF2-40B4-BE49-F238E27FC236}">
                    <a16:creationId xmlns:a16="http://schemas.microsoft.com/office/drawing/2014/main" id="{E521D8EE-1478-43C3-02A5-A7954AAD0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911075" y="956726"/>
                <a:ext cx="1914251" cy="1435689"/>
              </a:xfrm>
              <a:prstGeom prst="rect">
                <a:avLst/>
              </a:prstGeom>
            </p:spPr>
          </p:pic>
        </p:grp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F42D47-B39F-86F0-330B-C14CF072E73F}"/>
              </a:ext>
            </a:extLst>
          </p:cNvPr>
          <p:cNvSpPr txBox="1">
            <a:spLocks/>
          </p:cNvSpPr>
          <p:nvPr/>
        </p:nvSpPr>
        <p:spPr>
          <a:xfrm>
            <a:off x="409623" y="1964000"/>
            <a:ext cx="5702301" cy="2929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What we know</a:t>
            </a:r>
          </a:p>
          <a:p>
            <a:pPr lvl="1">
              <a:buClr>
                <a:schemeClr val="accent1"/>
              </a:buClr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Improve people’s thermal comfort </a:t>
            </a:r>
          </a:p>
          <a:p>
            <a:pPr lvl="1">
              <a:buClr>
                <a:schemeClr val="accent1"/>
              </a:buClr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Reduce HVAC energy consumption in buildings</a:t>
            </a:r>
          </a:p>
          <a:p>
            <a:endParaRPr lang="en-US" altLang="ja-JP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Research gap</a:t>
            </a: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products with limited test conditions</a:t>
            </a: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commercially available products</a:t>
            </a:r>
          </a:p>
          <a:p>
            <a:pPr lvl="2">
              <a:buClr>
                <a:schemeClr val="accent1"/>
              </a:buClr>
            </a:pPr>
            <a:r>
              <a:rPr lang="en-US" altLang="ja-JP" sz="16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are difficult to apply in real building projects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AAE108-4E5E-6003-4878-FC8F6A4DB30B}"/>
              </a:ext>
            </a:extLst>
          </p:cNvPr>
          <p:cNvSpPr txBox="1">
            <a:spLocks/>
          </p:cNvSpPr>
          <p:nvPr/>
        </p:nvSpPr>
        <p:spPr>
          <a:xfrm>
            <a:off x="409623" y="5184449"/>
            <a:ext cx="5702301" cy="1238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</a:t>
            </a: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To develop an open-access database for a range of commercially available PCS products</a:t>
            </a:r>
            <a:r>
              <a:rPr lang="ja-JP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for designers and practitioners.</a:t>
            </a:r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59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BDD8-5087-A388-6950-C79344B5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F7E732FC-9086-4832-938D-A929ECBA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8" y="-65494"/>
            <a:ext cx="11402572" cy="757130"/>
          </a:xfrm>
        </p:spPr>
        <p:txBody>
          <a:bodyPr/>
          <a:lstStyle/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en-US" altLang="ja-JP" sz="2400" b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ja-JP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400" b="0" i="1" dirty="0">
                <a:latin typeface="Arial" panose="020B0604020202020204" pitchFamily="34" charset="0"/>
                <a:cs typeface="Arial" panose="020B0604020202020204" pitchFamily="34" charset="0"/>
              </a:rPr>
              <a:t>thermal manikin experiment quantifying performance of 17 PCS devices</a:t>
            </a:r>
            <a:endParaRPr lang="ja-JP" altLang="en-US" sz="2400" b="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8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29190F22-D182-D7A6-EA3D-5844998D88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688" y="999014"/>
            <a:ext cx="3365828" cy="2524372"/>
          </a:xfrm>
          <a:prstGeom prst="rect">
            <a:avLst/>
          </a:prstGeom>
        </p:spPr>
      </p:pic>
      <p:pic>
        <p:nvPicPr>
          <p:cNvPr id="3" name="図 2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60AB5B02-D9BF-14B9-5424-426485C0F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1367" y="999013"/>
            <a:ext cx="2524370" cy="252437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8C4C87CC-745B-4440-4444-33C3A2139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98" y="4430179"/>
            <a:ext cx="6072037" cy="1951782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BA73DB9-01E8-92DD-7416-865F9FFB78A4}"/>
              </a:ext>
            </a:extLst>
          </p:cNvPr>
          <p:cNvSpPr txBox="1">
            <a:spLocks/>
          </p:cNvSpPr>
          <p:nvPr/>
        </p:nvSpPr>
        <p:spPr>
          <a:xfrm>
            <a:off x="393698" y="3995646"/>
            <a:ext cx="6072037" cy="4345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lvl="1" indent="0" algn="ctr">
              <a:buClr>
                <a:schemeClr val="accent1"/>
              </a:buClr>
              <a:buNone/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Tested 17</a:t>
            </a:r>
            <a:r>
              <a:rPr lang="ja-JP" altLang="en-US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PCS</a:t>
            </a:r>
            <a:r>
              <a:rPr lang="ja-JP" altLang="en-US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devices</a:t>
            </a:r>
          </a:p>
        </p:txBody>
      </p:sp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CED0D5E7-2ACD-B22B-771F-B88EF6928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86950"/>
              </p:ext>
            </p:extLst>
          </p:nvPr>
        </p:nvGraphicFramePr>
        <p:xfrm>
          <a:off x="6841378" y="4376081"/>
          <a:ext cx="5128457" cy="2052000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1975363">
                  <a:extLst>
                    <a:ext uri="{9D8B030D-6E8A-4147-A177-3AD203B41FA5}">
                      <a16:colId xmlns:a16="http://schemas.microsoft.com/office/drawing/2014/main" val="3569766329"/>
                    </a:ext>
                  </a:extLst>
                </a:gridCol>
                <a:gridCol w="3153094">
                  <a:extLst>
                    <a:ext uri="{9D8B030D-6E8A-4147-A177-3AD203B41FA5}">
                      <a16:colId xmlns:a16="http://schemas.microsoft.com/office/drawing/2014/main" val="278399236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　</a:t>
                      </a:r>
                      <a:r>
                        <a:rPr lang="en-US" altLang="ja-JP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Operative temp.</a:t>
                      </a:r>
                      <a:endParaRPr lang="ja-JP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altLang="ja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 / 25 / 28</a:t>
                      </a:r>
                      <a:r>
                        <a:rPr lang="en-US" altLang="ja-JP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US" altLang="ja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</a:t>
                      </a:r>
                      <a:endParaRPr lang="ja-JP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42875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62666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Relative humidity</a:t>
                      </a:r>
                      <a:endParaRPr lang="ja-JP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800" dirty="0">
                          <a:solidFill>
                            <a:srgbClr val="3E3A3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40-60%</a:t>
                      </a:r>
                    </a:p>
                  </a:txBody>
                  <a:tcPr marL="142875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58581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Air velocity</a:t>
                      </a:r>
                      <a:endParaRPr lang="ja-JP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 air movement</a:t>
                      </a:r>
                    </a:p>
                  </a:txBody>
                  <a:tcPr marL="142875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694875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Clothing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Summer clothing (0.4 </a:t>
                      </a:r>
                      <a:r>
                        <a:rPr kumimoji="1" lang="en-US" altLang="ja-JP" sz="18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clo</a:t>
                      </a:r>
                      <a:r>
                        <a:rPr kumimoji="1" lang="en-US" altLang="ja-JP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Winter clothing (0.8 </a:t>
                      </a:r>
                      <a:r>
                        <a:rPr kumimoji="1" lang="en-US" altLang="ja-JP" sz="18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clo</a:t>
                      </a:r>
                      <a:r>
                        <a:rPr kumimoji="1" lang="en-US" altLang="ja-JP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42875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1015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Posture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kumimoji="1" lang="en-US" altLang="ja-JP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Sitting</a:t>
                      </a:r>
                    </a:p>
                  </a:txBody>
                  <a:tcPr marL="142875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5567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02825CF-1318-B07F-FE57-7CEDAFD924E3}"/>
              </a:ext>
            </a:extLst>
          </p:cNvPr>
          <p:cNvSpPr txBox="1">
            <a:spLocks/>
          </p:cNvSpPr>
          <p:nvPr/>
        </p:nvSpPr>
        <p:spPr>
          <a:xfrm>
            <a:off x="6841378" y="3995646"/>
            <a:ext cx="5128457" cy="4345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lvl="1" indent="0" algn="ctr">
              <a:buClr>
                <a:schemeClr val="accent1"/>
              </a:buClr>
              <a:buNone/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conditions (simulated office conditions)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A311E0B-9BB1-96A0-CD4A-ACD2EF1AA0CD}"/>
              </a:ext>
            </a:extLst>
          </p:cNvPr>
          <p:cNvGrpSpPr/>
          <p:nvPr/>
        </p:nvGrpSpPr>
        <p:grpSpPr>
          <a:xfrm>
            <a:off x="6841378" y="835518"/>
            <a:ext cx="5243947" cy="2958902"/>
            <a:chOff x="6841378" y="920804"/>
            <a:chExt cx="5243947" cy="2958902"/>
          </a:xfrm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7EB957C6-1142-487B-A5FF-0039AC20AE4B}"/>
                </a:ext>
              </a:extLst>
            </p:cNvPr>
            <p:cNvSpPr/>
            <p:nvPr/>
          </p:nvSpPr>
          <p:spPr>
            <a:xfrm>
              <a:off x="6841378" y="920804"/>
              <a:ext cx="5128457" cy="2958902"/>
            </a:xfrm>
            <a:prstGeom prst="roundRect">
              <a:avLst>
                <a:gd name="adj" fmla="val 7512"/>
              </a:avLst>
            </a:prstGeom>
            <a:solidFill>
              <a:schemeClr val="accent6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C05C9F0D-BD88-7216-3EF1-C861A91C5C0F}"/>
                </a:ext>
              </a:extLst>
            </p:cNvPr>
            <p:cNvSpPr txBox="1">
              <a:spLocks/>
            </p:cNvSpPr>
            <p:nvPr/>
          </p:nvSpPr>
          <p:spPr>
            <a:xfrm>
              <a:off x="6841378" y="1123125"/>
              <a:ext cx="4897477" cy="16340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2425" indent="-2540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Clr>
                  <a:srgbClr val="0070C0"/>
                </a:buClr>
                <a:buSzPct val="105000"/>
                <a:buFont typeface="Wingdings" pitchFamily="2" charset="2"/>
                <a:buChar char="§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7713" indent="-227013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Clr>
                  <a:srgbClr val="0070C0"/>
                </a:buClr>
                <a:buSzPct val="105000"/>
                <a:buFont typeface="Arial" panose="020B0604020202020204" pitchFamily="34" charset="0"/>
                <a:buChar char="•"/>
                <a:tabLst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85850" indent="-25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5000"/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38275" indent="-254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5000"/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8425" lvl="1" indent="0">
                <a:buClr>
                  <a:schemeClr val="accent1"/>
                </a:buClr>
                <a:buNone/>
              </a:pPr>
              <a:r>
                <a:rPr lang="en-US" altLang="ja-JP" sz="2000" b="1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PCS performance evaluation:</a:t>
              </a:r>
              <a:endParaRPr lang="en-US" altLang="ja-JP" sz="1800" b="1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1">
                <a:buClr>
                  <a:schemeClr val="accent1"/>
                </a:buClr>
              </a:pPr>
              <a:r>
                <a:rPr lang="en-US" altLang="ja-JP" sz="18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Skin temperature = 34</a:t>
              </a:r>
              <a:r>
                <a:rPr lang="en-US" altLang="ja-JP" sz="1800" baseline="300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US" altLang="ja-JP" sz="18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  <a:p>
              <a:pPr lvl="1">
                <a:buClr>
                  <a:schemeClr val="accent1"/>
                </a:buClr>
              </a:pPr>
              <a:r>
                <a:rPr lang="en-US" altLang="ja-JP" sz="18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Supplied power</a:t>
              </a:r>
            </a:p>
            <a:p>
              <a:pPr lvl="1">
                <a:buClr>
                  <a:schemeClr val="accent1"/>
                </a:buClr>
              </a:pPr>
              <a:r>
                <a:rPr lang="en-US" altLang="ja-JP" sz="18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PCS effect (W): </a:t>
              </a:r>
            </a:p>
            <a:p>
              <a:pPr lvl="1">
                <a:buClr>
                  <a:schemeClr val="accent1"/>
                </a:buClr>
              </a:pPr>
              <a:endParaRPr lang="en-US" altLang="ja-JP" sz="16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1">
                <a:buClr>
                  <a:schemeClr val="accent1"/>
                </a:buClr>
              </a:pPr>
              <a:endParaRPr lang="ja-JP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ja-JP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7270245-0F43-00F9-BA2A-9424C3B7C0DF}"/>
                    </a:ext>
                  </a:extLst>
                </p:cNvPr>
                <p:cNvSpPr txBox="1"/>
                <p:nvPr/>
              </p:nvSpPr>
              <p:spPr>
                <a:xfrm>
                  <a:off x="8999974" y="2303355"/>
                  <a:ext cx="3085351" cy="2984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𝑝𝑐𝑠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rgbClr val="3E3A3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kumimoji="1" lang="ja-JP" altLang="en-US" dirty="0">
                      <a:solidFill>
                        <a:srgbClr val="3E3A39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𝑤𝑖𝑡h𝑜𝑢𝑡</m:t>
                          </m:r>
                          <m:r>
                            <a:rPr lang="en-US" altLang="ja-JP" b="0" i="1" smtClean="0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ja-JP" i="1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𝑝𝑐𝑠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rgbClr val="3E3A3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𝑤𝑖𝑡h</m:t>
                          </m:r>
                          <m:r>
                            <a:rPr lang="en-US" altLang="ja-JP" i="1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ja-JP" i="1">
                              <a:solidFill>
                                <a:srgbClr val="3E3A3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𝑝𝑐𝑠</m:t>
                          </m:r>
                        </m:sub>
                      </m:sSub>
                    </m:oMath>
                  </a14:m>
                  <a:endParaRPr kumimoji="1" lang="ja-JP" altLang="en-US" dirty="0">
                    <a:solidFill>
                      <a:srgbClr val="3E3A39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7270245-0F43-00F9-BA2A-9424C3B7C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974" y="2303355"/>
                  <a:ext cx="3085351" cy="298415"/>
                </a:xfrm>
                <a:prstGeom prst="rect">
                  <a:avLst/>
                </a:prstGeom>
                <a:blipFill>
                  <a:blip r:embed="rId6"/>
                  <a:stretch>
                    <a:fillRect l="-3353" b="-2244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83F5CC0E-D375-A641-7AF9-3F43382320E5}"/>
                </a:ext>
              </a:extLst>
            </p:cNvPr>
            <p:cNvGrpSpPr/>
            <p:nvPr/>
          </p:nvGrpSpPr>
          <p:grpSpPr>
            <a:xfrm>
              <a:off x="7173554" y="2860694"/>
              <a:ext cx="4545247" cy="838296"/>
              <a:chOff x="7251023" y="2579548"/>
              <a:chExt cx="4545247" cy="838296"/>
            </a:xfrm>
          </p:grpSpPr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C0BF345D-A4A7-B1C7-F4D3-6393F10C20C6}"/>
                  </a:ext>
                </a:extLst>
              </p:cNvPr>
              <p:cNvGrpSpPr/>
              <p:nvPr/>
            </p:nvGrpSpPr>
            <p:grpSpPr>
              <a:xfrm>
                <a:off x="7251023" y="2579548"/>
                <a:ext cx="3697961" cy="806805"/>
                <a:chOff x="7539567" y="2180869"/>
                <a:chExt cx="3697961" cy="806805"/>
              </a:xfrm>
            </p:grpSpPr>
            <p:sp>
              <p:nvSpPr>
                <p:cNvPr id="11" name="矢印: 右 10">
                  <a:extLst>
                    <a:ext uri="{FF2B5EF4-FFF2-40B4-BE49-F238E27FC236}">
                      <a16:creationId xmlns:a16="http://schemas.microsoft.com/office/drawing/2014/main" id="{B0E96205-5DAA-2F28-5036-3714D4118086}"/>
                    </a:ext>
                  </a:extLst>
                </p:cNvPr>
                <p:cNvSpPr/>
                <p:nvPr/>
              </p:nvSpPr>
              <p:spPr>
                <a:xfrm>
                  <a:off x="8312153" y="2183690"/>
                  <a:ext cx="2925375" cy="388414"/>
                </a:xfrm>
                <a:prstGeom prst="rightArrow">
                  <a:avLst>
                    <a:gd name="adj1" fmla="val 50000"/>
                    <a:gd name="adj2" fmla="val 60793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With PCS (50W)</a:t>
                  </a:r>
                  <a:endParaRPr kumimoji="1" lang="ja-JP" alt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矢印: 右 13">
                  <a:extLst>
                    <a:ext uri="{FF2B5EF4-FFF2-40B4-BE49-F238E27FC236}">
                      <a16:creationId xmlns:a16="http://schemas.microsoft.com/office/drawing/2014/main" id="{6178AF44-E196-97D2-9748-239C5DE6B000}"/>
                    </a:ext>
                  </a:extLst>
                </p:cNvPr>
                <p:cNvSpPr/>
                <p:nvPr/>
              </p:nvSpPr>
              <p:spPr>
                <a:xfrm>
                  <a:off x="8312154" y="2573352"/>
                  <a:ext cx="1467066" cy="388414"/>
                </a:xfrm>
                <a:prstGeom prst="rightArrow">
                  <a:avLst>
                    <a:gd name="adj1" fmla="val 50000"/>
                    <a:gd name="adj2" fmla="val 60793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Without PCS (30W)</a:t>
                  </a:r>
                  <a:endParaRPr kumimoji="1" lang="ja-JP" alt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9" name="直線コネクタ 18">
                  <a:extLst>
                    <a:ext uri="{FF2B5EF4-FFF2-40B4-BE49-F238E27FC236}">
                      <a16:creationId xmlns:a16="http://schemas.microsoft.com/office/drawing/2014/main" id="{F5804690-ED08-F1A9-11AD-526358525775}"/>
                    </a:ext>
                  </a:extLst>
                </p:cNvPr>
                <p:cNvCxnSpPr/>
                <p:nvPr/>
              </p:nvCxnSpPr>
              <p:spPr>
                <a:xfrm>
                  <a:off x="8305802" y="2180869"/>
                  <a:ext cx="0" cy="803985"/>
                </a:xfrm>
                <a:prstGeom prst="line">
                  <a:avLst/>
                </a:prstGeom>
                <a:ln>
                  <a:solidFill>
                    <a:schemeClr val="tx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A9CCDE57-73FB-EF0C-CB7F-E0AF42D2AD66}"/>
                    </a:ext>
                  </a:extLst>
                </p:cNvPr>
                <p:cNvSpPr/>
                <p:nvPr/>
              </p:nvSpPr>
              <p:spPr>
                <a:xfrm>
                  <a:off x="7643926" y="2183689"/>
                  <a:ext cx="661876" cy="803985"/>
                </a:xfrm>
                <a:prstGeom prst="rect">
                  <a:avLst/>
                </a:prstGeom>
                <a:pattFill prst="wdUpDiag">
                  <a:fgClr>
                    <a:schemeClr val="accent3">
                      <a:lumMod val="20000"/>
                      <a:lumOff val="80000"/>
                    </a:schemeClr>
                  </a:fgClr>
                  <a:bgClr>
                    <a:schemeClr val="bg1"/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3753C752-A7EB-6E7B-A892-A92DE05D81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539567" y="2382999"/>
                  <a:ext cx="758186" cy="43453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52425" indent="-2540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Clr>
                      <a:srgbClr val="0070C0"/>
                    </a:buClr>
                    <a:buSzPct val="105000"/>
                    <a:buFont typeface="Wingdings" pitchFamily="2" charset="2"/>
                    <a:buChar char="§"/>
                    <a:tabLst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47713" indent="-227013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Clr>
                      <a:srgbClr val="0070C0"/>
                    </a:buClr>
                    <a:buSzPct val="105000"/>
                    <a:buFont typeface="Arial" panose="020B0604020202020204" pitchFamily="34" charset="0"/>
                    <a:buChar char="•"/>
                    <a:tabLst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85850" indent="-2540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70C0"/>
                    </a:buClr>
                    <a:buSzPct val="105000"/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438275" indent="-2540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70C0"/>
                    </a:buClr>
                    <a:buSzPct val="105000"/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98425" lvl="1" indent="0" algn="ctr">
                    <a:buClr>
                      <a:schemeClr val="accent1"/>
                    </a:buClr>
                    <a:buNone/>
                  </a:pPr>
                  <a:r>
                    <a:rPr lang="en-US" altLang="ja-JP" sz="1800" dirty="0">
                      <a:solidFill>
                        <a:srgbClr val="3E3A39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Skin</a:t>
                  </a:r>
                </a:p>
              </p:txBody>
            </p:sp>
          </p:grpSp>
          <p:pic>
            <p:nvPicPr>
              <p:cNvPr id="24" name="図 23" descr="座る, エンジン, 立つ が含まれている画像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78E6B955-762D-E561-D548-19F2B56CDE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15373" y="2636947"/>
                <a:ext cx="780897" cy="780897"/>
              </a:xfrm>
              <a:prstGeom prst="rect">
                <a:avLst/>
              </a:prstGeom>
            </p:spPr>
          </p:pic>
          <p:sp>
            <p:nvSpPr>
              <p:cNvPr id="7" name="矢印: 左右 6">
                <a:extLst>
                  <a:ext uri="{FF2B5EF4-FFF2-40B4-BE49-F238E27FC236}">
                    <a16:creationId xmlns:a16="http://schemas.microsoft.com/office/drawing/2014/main" id="{286BCECF-10EB-578B-83CB-438D1E337B09}"/>
                  </a:ext>
                </a:extLst>
              </p:cNvPr>
              <p:cNvSpPr/>
              <p:nvPr/>
            </p:nvSpPr>
            <p:spPr>
              <a:xfrm>
                <a:off x="9497027" y="2998944"/>
                <a:ext cx="1451957" cy="333049"/>
              </a:xfrm>
              <a:prstGeom prst="leftRightArrow">
                <a:avLst>
                  <a:gd name="adj1" fmla="val 58581"/>
                  <a:gd name="adj2" fmla="val 50000"/>
                </a:avLst>
              </a:prstGeom>
              <a:solidFill>
                <a:srgbClr val="FFFFEF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PCS effect</a:t>
                </a:r>
              </a:p>
              <a:p>
                <a:pPr algn="ctr"/>
                <a:r>
                  <a:rPr lang="en-US" altLang="ja-JP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(20W)</a:t>
                </a:r>
                <a:endParaRPr kumimoji="1" lang="ja-JP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3A113E4-18F0-374F-1A4C-6F197C435F0D}"/>
              </a:ext>
            </a:extLst>
          </p:cNvPr>
          <p:cNvSpPr txBox="1">
            <a:spLocks/>
          </p:cNvSpPr>
          <p:nvPr/>
        </p:nvSpPr>
        <p:spPr>
          <a:xfrm>
            <a:off x="393698" y="3523382"/>
            <a:ext cx="6072037" cy="4345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lvl="1" indent="0" algn="ctr">
              <a:buClr>
                <a:schemeClr val="accent1"/>
              </a:buClr>
              <a:buNone/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example of test setup</a:t>
            </a: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159B0AA-A51E-E5E5-EA7E-9028A3E18F1A}"/>
              </a:ext>
            </a:extLst>
          </p:cNvPr>
          <p:cNvGrpSpPr/>
          <p:nvPr/>
        </p:nvGrpSpPr>
        <p:grpSpPr>
          <a:xfrm>
            <a:off x="1332124" y="1960473"/>
            <a:ext cx="487466" cy="439782"/>
            <a:chOff x="1175550" y="1819215"/>
            <a:chExt cx="644040" cy="5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7AC97760-6FD0-FF26-9EA3-626F2DC19A70}"/>
                    </a:ext>
                  </a:extLst>
                </p14:cNvPr>
                <p14:cNvContentPartPr/>
                <p14:nvPr/>
              </p14:nvContentPartPr>
              <p14:xfrm>
                <a:off x="1216590" y="1886535"/>
                <a:ext cx="555120" cy="21960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7AC97760-6FD0-FF26-9EA3-626F2DC19A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3302" y="1862769"/>
                  <a:ext cx="602172" cy="266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F0F1FC3F-4E56-C616-87B8-226C16B85792}"/>
                    </a:ext>
                  </a:extLst>
                </p14:cNvPr>
                <p14:cNvContentPartPr/>
                <p14:nvPr/>
              </p14:nvContentPartPr>
              <p14:xfrm>
                <a:off x="1266630" y="2174895"/>
                <a:ext cx="552960" cy="22536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F0F1FC3F-4E56-C616-87B8-226C16B857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43332" y="2151123"/>
                  <a:ext cx="600031" cy="272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3EBFD84F-690B-83F4-B648-206D98315B6A}"/>
                    </a:ext>
                  </a:extLst>
                </p14:cNvPr>
                <p14:cNvContentPartPr/>
                <p14:nvPr/>
              </p14:nvContentPartPr>
              <p14:xfrm>
                <a:off x="1175550" y="1819215"/>
                <a:ext cx="138960" cy="166680"/>
              </p14:xfrm>
            </p:contentPart>
          </mc:Choice>
          <mc:Fallback xmlns=""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3EBFD84F-690B-83F4-B648-206D98315B6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2231" y="1795471"/>
                  <a:ext cx="186073" cy="213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69A81EE5-2502-0C9D-784D-E0B054A78AFA}"/>
                    </a:ext>
                  </a:extLst>
                </p14:cNvPr>
                <p14:cNvContentPartPr/>
                <p14:nvPr/>
              </p14:nvContentPartPr>
              <p14:xfrm>
                <a:off x="1257630" y="2157255"/>
                <a:ext cx="162000" cy="232560"/>
              </p14:xfrm>
            </p:contentPart>
          </mc:Choice>
          <mc:Fallback xmlns=""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69A81EE5-2502-0C9D-784D-E0B054A78A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33876" y="2133476"/>
                  <a:ext cx="209032" cy="27964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A329FC8-AE62-E9FA-7524-87E16CD6BE05}"/>
              </a:ext>
            </a:extLst>
          </p:cNvPr>
          <p:cNvSpPr txBox="1"/>
          <p:nvPr/>
        </p:nvSpPr>
        <p:spPr>
          <a:xfrm>
            <a:off x="2495815" y="1261839"/>
            <a:ext cx="1069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Desk fan</a:t>
            </a:r>
            <a:endParaRPr kumimoji="1" lang="ja-JP" altLang="en-US" sz="1600" b="1" dirty="0">
              <a:solidFill>
                <a:srgbClr val="3E3A39"/>
              </a:solidFill>
              <a:effectLst>
                <a:glow rad="101600">
                  <a:schemeClr val="bg1"/>
                </a:glow>
              </a:effectLst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55ADD96E-2692-9353-41C1-34F63B47E5D1}"/>
              </a:ext>
            </a:extLst>
          </p:cNvPr>
          <p:cNvCxnSpPr>
            <a:cxnSpLocks/>
          </p:cNvCxnSpPr>
          <p:nvPr/>
        </p:nvCxnSpPr>
        <p:spPr>
          <a:xfrm flipV="1">
            <a:off x="2114550" y="1480480"/>
            <a:ext cx="323850" cy="479993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oval" w="med" len="med"/>
            <a:tailEnd type="oval" w="med" len="med"/>
          </a:ln>
          <a:effectLst>
            <a:glow rad="635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252C7AA-21BF-BF17-B735-12658FA2DBE1}"/>
              </a:ext>
            </a:extLst>
          </p:cNvPr>
          <p:cNvSpPr txBox="1"/>
          <p:nvPr/>
        </p:nvSpPr>
        <p:spPr>
          <a:xfrm>
            <a:off x="473199" y="3134789"/>
            <a:ext cx="2022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Thermal manikin</a:t>
            </a:r>
            <a:endParaRPr kumimoji="1" lang="ja-JP" altLang="en-US" sz="1600" b="1" dirty="0">
              <a:solidFill>
                <a:srgbClr val="3E3A39"/>
              </a:solidFill>
              <a:effectLst>
                <a:glow rad="101600">
                  <a:schemeClr val="bg1"/>
                </a:glow>
              </a:effectLst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75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D47B-3B82-5400-DEDC-4ABB6C5B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 32">
            <a:extLst>
              <a:ext uri="{FF2B5EF4-FFF2-40B4-BE49-F238E27FC236}">
                <a16:creationId xmlns:a16="http://schemas.microsoft.com/office/drawing/2014/main" id="{D38B7062-124A-1CFE-9216-21DF7E6A4E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3629"/>
          <a:stretch>
            <a:fillRect/>
          </a:stretch>
        </p:blipFill>
        <p:spPr>
          <a:xfrm>
            <a:off x="399455" y="1225357"/>
            <a:ext cx="11393089" cy="4804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615027E8-4CDC-B515-E377-E08E59A0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-37795"/>
            <a:ext cx="11169651" cy="701731"/>
          </a:xfrm>
        </p:spPr>
        <p:txBody>
          <a:bodyPr/>
          <a:lstStyle/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en-US" altLang="ja-JP" sz="2400" b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000" b="0" i="1" dirty="0">
                <a:latin typeface="Arial" panose="020B0604020202020204" pitchFamily="34" charset="0"/>
                <a:cs typeface="Arial" panose="020B0604020202020204" pitchFamily="34" charset="0"/>
              </a:rPr>
              <a:t>the database includes (1) device info, (2) test conditions, (3) measurement results</a:t>
            </a:r>
            <a:endParaRPr lang="ja-JP" altLang="en-US" sz="2400" b="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0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DA61-5561-537C-D2C8-3D2939DD8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C98EAC73-1EE1-CEC3-1ECD-398013D8B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0705"/>
            <a:ext cx="10807619" cy="424732"/>
          </a:xfrm>
        </p:spPr>
        <p:txBody>
          <a:bodyPr/>
          <a:lstStyle/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Results: </a:t>
            </a:r>
            <a:r>
              <a:rPr lang="en-US" altLang="ja-JP" sz="2400" b="0" i="1" dirty="0">
                <a:latin typeface="Arial" panose="020B0604020202020204" pitchFamily="34" charset="0"/>
                <a:cs typeface="Arial" panose="020B0604020202020204" pitchFamily="34" charset="0"/>
              </a:rPr>
              <a:t>representative results for 17 PCS devices (mid-settings, Ta=25</a:t>
            </a:r>
            <a:r>
              <a:rPr lang="en-US" altLang="ja-JP" sz="2400" b="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ja-JP" sz="2400" b="0" i="1" dirty="0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ja-JP" altLang="en-US" sz="2400" b="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5606B6D4-5C63-CFE4-A56C-B80363E63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340097"/>
              </p:ext>
            </p:extLst>
          </p:nvPr>
        </p:nvGraphicFramePr>
        <p:xfrm>
          <a:off x="156000" y="2227488"/>
          <a:ext cx="11880000" cy="2198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18243516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8603215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8954902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4462905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6497552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76959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03775219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6721941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9015451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589876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04729008"/>
                    </a:ext>
                  </a:extLst>
                </a:gridCol>
              </a:tblGrid>
              <a:tr h="36918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538278"/>
                  </a:ext>
                </a:extLst>
              </a:tr>
              <a:tr h="139717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58333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altLang="ja-JP" sz="1800" i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Teq</a:t>
                      </a:r>
                      <a:endParaRPr lang="en-US" sz="1800" i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02813"/>
                  </a:ext>
                </a:extLst>
              </a:tr>
            </a:tbl>
          </a:graphicData>
        </a:graphic>
      </p:graphicFrame>
      <p:pic>
        <p:nvPicPr>
          <p:cNvPr id="3" name="Picture 13" descr="A green circular object with a black background&#10;&#10;AI-generated content may be incorrect.">
            <a:extLst>
              <a:ext uri="{FF2B5EF4-FFF2-40B4-BE49-F238E27FC236}">
                <a16:creationId xmlns:a16="http://schemas.microsoft.com/office/drawing/2014/main" id="{7BBDA407-9795-1F56-1DF3-A4766FE5C7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7558" y="2777646"/>
            <a:ext cx="1085004" cy="1058540"/>
          </a:xfrm>
          <a:prstGeom prst="rect">
            <a:avLst/>
          </a:prstGeom>
        </p:spPr>
      </p:pic>
      <p:pic>
        <p:nvPicPr>
          <p:cNvPr id="4" name="Picture 15" descr="A green fan with a black background&#10;&#10;AI-generated content may be incorrect.">
            <a:extLst>
              <a:ext uri="{FF2B5EF4-FFF2-40B4-BE49-F238E27FC236}">
                <a16:creationId xmlns:a16="http://schemas.microsoft.com/office/drawing/2014/main" id="{967FD7AE-A096-268F-CC2E-35B404B174E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3524" y="2826512"/>
            <a:ext cx="906782" cy="960808"/>
          </a:xfrm>
          <a:prstGeom prst="rect">
            <a:avLst/>
          </a:prstGeom>
        </p:spPr>
      </p:pic>
      <p:pic>
        <p:nvPicPr>
          <p:cNvPr id="6" name="Picture 17" descr="A white cube shaped device with black vent&#10;&#10;AI-generated content may be incorrect.">
            <a:extLst>
              <a:ext uri="{FF2B5EF4-FFF2-40B4-BE49-F238E27FC236}">
                <a16:creationId xmlns:a16="http://schemas.microsoft.com/office/drawing/2014/main" id="{CA5A8564-1540-AA86-A2FB-9B097EFFBB0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91268" y="2885435"/>
            <a:ext cx="1081087" cy="810815"/>
          </a:xfrm>
          <a:prstGeom prst="rect">
            <a:avLst/>
          </a:prstGeom>
        </p:spPr>
      </p:pic>
      <p:pic>
        <p:nvPicPr>
          <p:cNvPr id="7" name="Picture 19" descr="A white fan with a black background&#10;&#10;AI-generated content may be incorrect.">
            <a:extLst>
              <a:ext uri="{FF2B5EF4-FFF2-40B4-BE49-F238E27FC236}">
                <a16:creationId xmlns:a16="http://schemas.microsoft.com/office/drawing/2014/main" id="{656A4E74-CAEB-9AC5-8413-609DFD93F9E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319" y="2759543"/>
            <a:ext cx="766409" cy="1076643"/>
          </a:xfrm>
          <a:prstGeom prst="rect">
            <a:avLst/>
          </a:prstGeom>
        </p:spPr>
      </p:pic>
      <p:pic>
        <p:nvPicPr>
          <p:cNvPr id="9" name="Picture 21" descr="A white and grey machine&#10;&#10;AI-generated content may be incorrect.">
            <a:extLst>
              <a:ext uri="{FF2B5EF4-FFF2-40B4-BE49-F238E27FC236}">
                <a16:creationId xmlns:a16="http://schemas.microsoft.com/office/drawing/2014/main" id="{547F0169-2EFF-BB08-99E6-320B5C5EE62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2753" y="2664937"/>
            <a:ext cx="530146" cy="1237612"/>
          </a:xfrm>
          <a:prstGeom prst="rect">
            <a:avLst/>
          </a:prstGeom>
        </p:spPr>
      </p:pic>
      <p:pic>
        <p:nvPicPr>
          <p:cNvPr id="10" name="Picture 23" descr="A black headphones with a black background&#10;&#10;AI-generated content may be incorrect.">
            <a:extLst>
              <a:ext uri="{FF2B5EF4-FFF2-40B4-BE49-F238E27FC236}">
                <a16:creationId xmlns:a16="http://schemas.microsoft.com/office/drawing/2014/main" id="{A8700669-C417-2B02-89B4-D20A23DD0B3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7807" y="2860077"/>
            <a:ext cx="867628" cy="858280"/>
          </a:xfrm>
          <a:prstGeom prst="rect">
            <a:avLst/>
          </a:prstGeom>
        </p:spPr>
      </p:pic>
      <p:pic>
        <p:nvPicPr>
          <p:cNvPr id="11" name="Picture 25" descr="A white fan with a round fan on it&#10;&#10;AI-generated content may be incorrect.">
            <a:extLst>
              <a:ext uri="{FF2B5EF4-FFF2-40B4-BE49-F238E27FC236}">
                <a16:creationId xmlns:a16="http://schemas.microsoft.com/office/drawing/2014/main" id="{53D8B0E6-8864-1C18-C0DD-04C8896E4DEC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44115" y="2660838"/>
            <a:ext cx="804784" cy="1219502"/>
          </a:xfrm>
          <a:prstGeom prst="rect">
            <a:avLst/>
          </a:prstGeom>
        </p:spPr>
      </p:pic>
      <p:pic>
        <p:nvPicPr>
          <p:cNvPr id="12" name="Picture 27" descr="A close up of a device&#10;&#10;AI-generated content may be incorrect.">
            <a:extLst>
              <a:ext uri="{FF2B5EF4-FFF2-40B4-BE49-F238E27FC236}">
                <a16:creationId xmlns:a16="http://schemas.microsoft.com/office/drawing/2014/main" id="{02C759DC-59AB-2C5B-D9F0-9618C1ABF142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2319" y="2612654"/>
            <a:ext cx="604756" cy="1366096"/>
          </a:xfrm>
          <a:prstGeom prst="rect">
            <a:avLst/>
          </a:prstGeom>
        </p:spPr>
      </p:pic>
      <p:pic>
        <p:nvPicPr>
          <p:cNvPr id="13" name="Picture 29" descr="A fan on a stand&#10;&#10;AI-generated content may be incorrect.">
            <a:extLst>
              <a:ext uri="{FF2B5EF4-FFF2-40B4-BE49-F238E27FC236}">
                <a16:creationId xmlns:a16="http://schemas.microsoft.com/office/drawing/2014/main" id="{487D1F4F-215E-76FB-2CE2-9DEBCB69FE4E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4153" y="2707398"/>
            <a:ext cx="845020" cy="1126382"/>
          </a:xfrm>
          <a:prstGeom prst="rect">
            <a:avLst/>
          </a:prstGeom>
        </p:spPr>
      </p:pic>
      <p:pic>
        <p:nvPicPr>
          <p:cNvPr id="14" name="Picture 31" descr="A white machine with a black circle&#10;&#10;AI-generated content may be incorrect.">
            <a:extLst>
              <a:ext uri="{FF2B5EF4-FFF2-40B4-BE49-F238E27FC236}">
                <a16:creationId xmlns:a16="http://schemas.microsoft.com/office/drawing/2014/main" id="{B34D6E54-9988-52EE-0953-C35CB3B76A2A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1318" y="2707398"/>
            <a:ext cx="701006" cy="1161468"/>
          </a:xfrm>
          <a:prstGeom prst="rect">
            <a:avLst/>
          </a:prstGeom>
        </p:spPr>
      </p:pic>
      <p:graphicFrame>
        <p:nvGraphicFramePr>
          <p:cNvPr id="15" name="Table 38">
            <a:extLst>
              <a:ext uri="{FF2B5EF4-FFF2-40B4-BE49-F238E27FC236}">
                <a16:creationId xmlns:a16="http://schemas.microsoft.com/office/drawing/2014/main" id="{1127ED46-3EDC-F3B4-9F70-A3F48E3FB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58698"/>
              </p:ext>
            </p:extLst>
          </p:nvPr>
        </p:nvGraphicFramePr>
        <p:xfrm>
          <a:off x="156000" y="4494133"/>
          <a:ext cx="8640000" cy="2198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18243516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8603215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8954902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4462905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6497552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76959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03775219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67219418"/>
                    </a:ext>
                  </a:extLst>
                </a:gridCol>
              </a:tblGrid>
              <a:tr h="36918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538278"/>
                  </a:ext>
                </a:extLst>
              </a:tr>
              <a:tr h="139717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58333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i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ΔTeq</a:t>
                      </a:r>
                      <a:endParaRPr lang="en-US" sz="1800" i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02813"/>
                  </a:ext>
                </a:extLst>
              </a:tr>
            </a:tbl>
          </a:graphicData>
        </a:graphic>
      </p:graphicFrame>
      <p:pic>
        <p:nvPicPr>
          <p:cNvPr id="16" name="Picture 48" descr="A white blanket with a white circle&#10;&#10;AI-generated content may be incorrect.">
            <a:extLst>
              <a:ext uri="{FF2B5EF4-FFF2-40B4-BE49-F238E27FC236}">
                <a16:creationId xmlns:a16="http://schemas.microsoft.com/office/drawing/2014/main" id="{43B1C962-C7F8-BCE4-7C80-30645AC3A5DF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278" y="4966337"/>
            <a:ext cx="917364" cy="1223152"/>
          </a:xfrm>
          <a:prstGeom prst="rect">
            <a:avLst/>
          </a:prstGeom>
        </p:spPr>
      </p:pic>
      <p:pic>
        <p:nvPicPr>
          <p:cNvPr id="17" name="Picture 50" descr="A grey fabric folding screen&#10;&#10;AI-generated content may be incorrect.">
            <a:extLst>
              <a:ext uri="{FF2B5EF4-FFF2-40B4-BE49-F238E27FC236}">
                <a16:creationId xmlns:a16="http://schemas.microsoft.com/office/drawing/2014/main" id="{995467B0-7DE8-62D3-F74A-942B12152E51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2462" y="5245273"/>
            <a:ext cx="1068706" cy="801530"/>
          </a:xfrm>
          <a:prstGeom prst="rect">
            <a:avLst/>
          </a:prstGeom>
        </p:spPr>
      </p:pic>
      <p:pic>
        <p:nvPicPr>
          <p:cNvPr id="18" name="Picture 52" descr="A black heater with a cord&#10;&#10;AI-generated content may be incorrect.">
            <a:extLst>
              <a:ext uri="{FF2B5EF4-FFF2-40B4-BE49-F238E27FC236}">
                <a16:creationId xmlns:a16="http://schemas.microsoft.com/office/drawing/2014/main" id="{ADF01B31-D46D-8965-3C88-3599F061F66E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03918" y="5066899"/>
            <a:ext cx="852407" cy="1022028"/>
          </a:xfrm>
          <a:prstGeom prst="rect">
            <a:avLst/>
          </a:prstGeom>
        </p:spPr>
      </p:pic>
      <p:pic>
        <p:nvPicPr>
          <p:cNvPr id="19" name="Picture 54" descr="A pillow with a button on it&#10;&#10;AI-generated content may be incorrect.">
            <a:extLst>
              <a:ext uri="{FF2B5EF4-FFF2-40B4-BE49-F238E27FC236}">
                <a16:creationId xmlns:a16="http://schemas.microsoft.com/office/drawing/2014/main" id="{9EB4A539-2849-9B05-90EA-5EC09A4C8CAF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11229" y="5137081"/>
            <a:ext cx="964387" cy="881664"/>
          </a:xfrm>
          <a:prstGeom prst="rect">
            <a:avLst/>
          </a:prstGeom>
        </p:spPr>
      </p:pic>
      <p:pic>
        <p:nvPicPr>
          <p:cNvPr id="20" name="Picture 56" descr="A silver square with a cord attached to it&#10;&#10;AI-generated content may be incorrect.">
            <a:extLst>
              <a:ext uri="{FF2B5EF4-FFF2-40B4-BE49-F238E27FC236}">
                <a16:creationId xmlns:a16="http://schemas.microsoft.com/office/drawing/2014/main" id="{3C6622EF-80A7-7DCD-3DDE-76D1EB34D310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8931" y="5245273"/>
            <a:ext cx="844911" cy="766049"/>
          </a:xfrm>
          <a:prstGeom prst="rect">
            <a:avLst/>
          </a:prstGeom>
        </p:spPr>
      </p:pic>
      <p:pic>
        <p:nvPicPr>
          <p:cNvPr id="21" name="Picture 58" descr="A black and white mouse pad&#10;&#10;AI-generated content may be incorrect.">
            <a:extLst>
              <a:ext uri="{FF2B5EF4-FFF2-40B4-BE49-F238E27FC236}">
                <a16:creationId xmlns:a16="http://schemas.microsoft.com/office/drawing/2014/main" id="{B0F8C804-B057-C2EC-A821-1A449C7E9B89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0955" y="5375107"/>
            <a:ext cx="971791" cy="431426"/>
          </a:xfrm>
          <a:prstGeom prst="rect">
            <a:avLst/>
          </a:prstGeom>
        </p:spPr>
      </p:pic>
      <p:pic>
        <p:nvPicPr>
          <p:cNvPr id="22" name="Picture 60" descr="A white and black device&#10;&#10;AI-generated content may be incorrect.">
            <a:extLst>
              <a:ext uri="{FF2B5EF4-FFF2-40B4-BE49-F238E27FC236}">
                <a16:creationId xmlns:a16="http://schemas.microsoft.com/office/drawing/2014/main" id="{F5876F94-5749-22EF-40CA-097862992BC0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17251" y="5107852"/>
            <a:ext cx="774680" cy="962025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6F5D94B-940D-0DC7-99B2-8771ADE422C9}"/>
              </a:ext>
            </a:extLst>
          </p:cNvPr>
          <p:cNvSpPr txBox="1">
            <a:spLocks/>
          </p:cNvSpPr>
          <p:nvPr/>
        </p:nvSpPr>
        <p:spPr>
          <a:xfrm>
            <a:off x="393699" y="691194"/>
            <a:ext cx="11348358" cy="1389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Change in equivalent temperature (</a:t>
            </a:r>
            <a:r>
              <a:rPr lang="en-US" altLang="ja-JP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ΔTeq</a:t>
            </a: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) for the whole body</a:t>
            </a:r>
            <a:endParaRPr lang="en-US" altLang="ja-JP" sz="1800" dirty="0">
              <a:solidFill>
                <a:srgbClr val="3E3A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Hypothetical temperature that represents the combined effects of air temperature, radiation, and air movement on the human body.</a:t>
            </a: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Indicates </a:t>
            </a:r>
            <a:r>
              <a:rPr lang="en-US" altLang="ja-JP" sz="1800" u="sng" dirty="0">
                <a:latin typeface="Arial" panose="020B0604020202020204" pitchFamily="34" charset="0"/>
                <a:cs typeface="Arial" panose="020B0604020202020204" pitchFamily="34" charset="0"/>
              </a:rPr>
              <a:t>how much the room temperature setpoint can be relaxed</a:t>
            </a:r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 when a selected PCS device is used.</a:t>
            </a:r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D5C1738-E786-1DB5-EE18-C871C6231565}"/>
              </a:ext>
            </a:extLst>
          </p:cNvPr>
          <p:cNvSpPr/>
          <p:nvPr/>
        </p:nvSpPr>
        <p:spPr>
          <a:xfrm>
            <a:off x="1236844" y="2227488"/>
            <a:ext cx="7558442" cy="2193721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AD5C44A-3285-1B20-6B7B-E5CF7B73E3DC}"/>
              </a:ext>
            </a:extLst>
          </p:cNvPr>
          <p:cNvSpPr/>
          <p:nvPr/>
        </p:nvSpPr>
        <p:spPr>
          <a:xfrm>
            <a:off x="8795286" y="2227488"/>
            <a:ext cx="3237285" cy="2193721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6B0DC64-14A8-0D7E-7210-32571EFD3110}"/>
              </a:ext>
            </a:extLst>
          </p:cNvPr>
          <p:cNvSpPr/>
          <p:nvPr/>
        </p:nvSpPr>
        <p:spPr>
          <a:xfrm>
            <a:off x="1237558" y="4498772"/>
            <a:ext cx="7557727" cy="2193721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98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B685E-E48E-D295-745F-3E5D453E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4E322B4D-93F0-180B-0A4E-F24A6650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0704"/>
            <a:ext cx="10408619" cy="424732"/>
          </a:xfrm>
        </p:spPr>
        <p:txBody>
          <a:bodyPr/>
          <a:lstStyle/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Discussions</a:t>
            </a:r>
            <a:r>
              <a:rPr lang="en-US" altLang="ja-JP" sz="2400" b="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ja-JP" sz="2400" b="0" i="1" dirty="0">
                <a:latin typeface="Arial" panose="020B0604020202020204" pitchFamily="34" charset="0"/>
                <a:cs typeface="Arial" panose="020B0604020202020204" pitchFamily="34" charset="0"/>
              </a:rPr>
              <a:t>potential applications of the database</a:t>
            </a:r>
            <a:endParaRPr lang="ja-JP" altLang="en-US" sz="2400" b="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9BCF9A-CF73-DA2D-1846-6A2B86F17C61}"/>
              </a:ext>
            </a:extLst>
          </p:cNvPr>
          <p:cNvSpPr txBox="1">
            <a:spLocks/>
          </p:cNvSpPr>
          <p:nvPr/>
        </p:nvSpPr>
        <p:spPr>
          <a:xfrm>
            <a:off x="517524" y="804349"/>
            <a:ext cx="5702301" cy="1157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For PCS-integrated HVAC design (for designer)</a:t>
            </a: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much setpoint temperatures can be relaxed with a selected PCS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0C97B0F-8179-071B-7097-FD87E86884E2}"/>
              </a:ext>
            </a:extLst>
          </p:cNvPr>
          <p:cNvSpPr txBox="1">
            <a:spLocks/>
          </p:cNvSpPr>
          <p:nvPr/>
        </p:nvSpPr>
        <p:spPr>
          <a:xfrm>
            <a:off x="6489700" y="804349"/>
            <a:ext cx="5426530" cy="1157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Thermal comfort simulation (for researcher)</a:t>
            </a: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Berkely Comfort (ABC) model</a:t>
            </a:r>
          </a:p>
          <a:p>
            <a:pPr lvl="1">
              <a:buClr>
                <a:schemeClr val="accent1"/>
              </a:buClr>
            </a:pPr>
            <a:r>
              <a:rPr lang="en-US" altLang="ja-JP" sz="18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JOS-3 model</a:t>
            </a:r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341BE33-55AF-46FC-9200-9D5D06709236}"/>
              </a:ext>
            </a:extLst>
          </p:cNvPr>
          <p:cNvGrpSpPr/>
          <p:nvPr/>
        </p:nvGrpSpPr>
        <p:grpSpPr>
          <a:xfrm>
            <a:off x="568808" y="2041038"/>
            <a:ext cx="5190641" cy="4156146"/>
            <a:chOff x="568808" y="2159115"/>
            <a:chExt cx="5190641" cy="4156146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12C79501-CFCF-1EB1-DFA4-0D74B73A6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8808" y="2159115"/>
              <a:ext cx="5029200" cy="3558946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AF23488-D9D0-0BF6-0C39-7B376C143675}"/>
                </a:ext>
              </a:extLst>
            </p:cNvPr>
            <p:cNvSpPr txBox="1"/>
            <p:nvPr/>
          </p:nvSpPr>
          <p:spPr>
            <a:xfrm>
              <a:off x="671511" y="5792041"/>
              <a:ext cx="50879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Percent of total HVAC energy saved in different climates </a:t>
              </a:r>
            </a:p>
            <a:p>
              <a:pPr algn="ctr"/>
              <a:r>
                <a:rPr lang="en-US" altLang="ja-JP" sz="14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by widened air temperature setpoints (Hoyt et al., </a:t>
              </a:r>
              <a:r>
                <a:rPr lang="en-US" altLang="ja-JP" sz="14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4"/>
                </a:rPr>
                <a:t>link</a:t>
              </a:r>
              <a:r>
                <a:rPr lang="en-US" altLang="ja-JP" sz="1400" dirty="0">
                  <a:solidFill>
                    <a:srgbClr val="3E3A3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pic>
        <p:nvPicPr>
          <p:cNvPr id="12" name="Picture 29" descr="A fan on a stand&#10;&#10;AI-generated content may be incorrect.">
            <a:extLst>
              <a:ext uri="{FF2B5EF4-FFF2-40B4-BE49-F238E27FC236}">
                <a16:creationId xmlns:a16="http://schemas.microsoft.com/office/drawing/2014/main" id="{C1BBD356-6178-CF4C-389B-979D0970A3C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5406" y="2820085"/>
            <a:ext cx="1454416" cy="1938684"/>
          </a:xfrm>
          <a:prstGeom prst="rect">
            <a:avLst/>
          </a:prstGeom>
        </p:spPr>
      </p:pic>
      <p:pic>
        <p:nvPicPr>
          <p:cNvPr id="6" name="Picture 39">
            <a:extLst>
              <a:ext uri="{FF2B5EF4-FFF2-40B4-BE49-F238E27FC236}">
                <a16:creationId xmlns:a16="http://schemas.microsoft.com/office/drawing/2014/main" id="{6C40825E-D479-CCB0-64EE-828AC5901F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963" y="2241063"/>
            <a:ext cx="4572801" cy="29130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4A5603-B6B6-DB2F-2E72-640B01EC0EDF}"/>
              </a:ext>
            </a:extLst>
          </p:cNvPr>
          <p:cNvSpPr txBox="1"/>
          <p:nvPr/>
        </p:nvSpPr>
        <p:spPr>
          <a:xfrm>
            <a:off x="6489700" y="5297785"/>
            <a:ext cx="508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rgbClr val="3E3A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web interface of ABC model:</a:t>
            </a:r>
          </a:p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https://abc.cbe.berkeley.edu/</a:t>
            </a:r>
            <a:endParaRPr lang="en-US" altLang="ja-JP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625BB965-9879-9AFA-B7F3-8CCEC5178A22}"/>
              </a:ext>
            </a:extLst>
          </p:cNvPr>
          <p:cNvCxnSpPr>
            <a:cxnSpLocks/>
          </p:cNvCxnSpPr>
          <p:nvPr/>
        </p:nvCxnSpPr>
        <p:spPr>
          <a:xfrm flipV="1">
            <a:off x="2934970" y="3569970"/>
            <a:ext cx="0" cy="1333500"/>
          </a:xfrm>
          <a:prstGeom prst="line">
            <a:avLst/>
          </a:prstGeom>
          <a:ln w="28575" cap="rnd">
            <a:solidFill>
              <a:srgbClr val="FF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1473DBD-7377-B470-ABBF-AE47BF2A5E29}"/>
              </a:ext>
            </a:extLst>
          </p:cNvPr>
          <p:cNvCxnSpPr>
            <a:cxnSpLocks/>
          </p:cNvCxnSpPr>
          <p:nvPr/>
        </p:nvCxnSpPr>
        <p:spPr>
          <a:xfrm flipH="1">
            <a:off x="1362075" y="4216400"/>
            <a:ext cx="2143125" cy="0"/>
          </a:xfrm>
          <a:prstGeom prst="line">
            <a:avLst/>
          </a:prstGeom>
          <a:ln w="28575" cap="rnd">
            <a:solidFill>
              <a:srgbClr val="FF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62B6378-B130-8652-5218-0E8A46C12769}"/>
              </a:ext>
            </a:extLst>
          </p:cNvPr>
          <p:cNvSpPr txBox="1">
            <a:spLocks/>
          </p:cNvSpPr>
          <p:nvPr/>
        </p:nvSpPr>
        <p:spPr>
          <a:xfrm>
            <a:off x="-1930765" y="3291612"/>
            <a:ext cx="2202698" cy="497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ja-JP" sz="1800" dirty="0">
              <a:solidFill>
                <a:srgbClr val="3E3A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EB1112E-8E3A-1C90-5F25-49BAB1BEDA81}"/>
              </a:ext>
            </a:extLst>
          </p:cNvPr>
          <p:cNvSpPr txBox="1"/>
          <p:nvPr/>
        </p:nvSpPr>
        <p:spPr>
          <a:xfrm>
            <a:off x="4676873" y="4734193"/>
            <a:ext cx="1631482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el-GR" altLang="ja-JP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Δ</a:t>
            </a:r>
            <a:r>
              <a:rPr kumimoji="1" lang="en-US" altLang="ja-JP" sz="1600" b="1" i="1" dirty="0" err="1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Teq</a:t>
            </a:r>
            <a:r>
              <a:rPr kumimoji="1" lang="en-US" altLang="ja-JP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 = </a:t>
            </a:r>
            <a:r>
              <a:rPr lang="ja-JP" altLang="en-US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－</a:t>
            </a:r>
            <a:r>
              <a:rPr kumimoji="1" lang="en-US" altLang="ja-JP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2.8</a:t>
            </a:r>
            <a:r>
              <a:rPr kumimoji="1" lang="en-US" altLang="ja-JP" sz="1600" b="1" baseline="30000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o</a:t>
            </a:r>
            <a:r>
              <a:rPr kumimoji="1" lang="en-US" altLang="ja-JP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02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07407E-6 L 0.04987 -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94AC6398-B107-428B-F3F2-2D6C9BE6B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335" y="4376388"/>
            <a:ext cx="1312086" cy="131208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63385F-828D-4289-788B-DF31AD40889F}"/>
              </a:ext>
            </a:extLst>
          </p:cNvPr>
          <p:cNvSpPr txBox="1"/>
          <p:nvPr/>
        </p:nvSpPr>
        <p:spPr>
          <a:xfrm>
            <a:off x="10387334" y="5768346"/>
            <a:ext cx="1312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To GitHub repo</a:t>
            </a:r>
            <a:endParaRPr kumimoji="1" lang="ja-JP" altLang="en-US" sz="1600" b="1" dirty="0">
              <a:solidFill>
                <a:srgbClr val="3E3A39"/>
              </a:solidFill>
              <a:effectLst>
                <a:glow rad="101600">
                  <a:schemeClr val="bg1"/>
                </a:glow>
              </a:effectLst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39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F4184-3DA1-C067-D39B-167A8E0B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9CFC2EFA-BAD3-BA32-8FE4-4C341038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0704"/>
            <a:ext cx="10408619" cy="424732"/>
          </a:xfrm>
        </p:spPr>
        <p:txBody>
          <a:bodyPr/>
          <a:lstStyle/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Discussions</a:t>
            </a:r>
            <a:r>
              <a:rPr lang="en-US" altLang="ja-JP" sz="2400" b="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ja-JP" sz="2400" b="0" i="1" dirty="0">
                <a:latin typeface="Arial" panose="020B0604020202020204" pitchFamily="34" charset="0"/>
                <a:cs typeface="Arial" panose="020B0604020202020204" pitchFamily="34" charset="0"/>
              </a:rPr>
              <a:t>limitation of the results</a:t>
            </a:r>
            <a:endParaRPr lang="ja-JP" altLang="en-US" sz="2400" b="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98A4E-5134-6169-5DE9-281FDDCCBD2A}"/>
              </a:ext>
            </a:extLst>
          </p:cNvPr>
          <p:cNvSpPr txBox="1">
            <a:spLocks/>
          </p:cNvSpPr>
          <p:nvPr/>
        </p:nvSpPr>
        <p:spPr>
          <a:xfrm>
            <a:off x="393699" y="788358"/>
            <a:ext cx="11007726" cy="5712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2425" indent="-2540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7713" indent="-22701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-25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SzPct val="105000"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1325" lvl="1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We only measured dry heat loss, and there is no latent heat loss</a:t>
            </a:r>
          </a:p>
          <a:p>
            <a:pPr marL="836613" lvl="2" indent="-342900">
              <a:buClr>
                <a:schemeClr val="accent1"/>
              </a:buClr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Fans should have stronger cooling effect</a:t>
            </a:r>
            <a:r>
              <a:rPr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under sweating conditions</a:t>
            </a:r>
          </a:p>
          <a:p>
            <a:pPr marL="836613" lvl="2" indent="-342900">
              <a:buClr>
                <a:schemeClr val="accent1"/>
              </a:buClr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Present results &lt; Actual </a:t>
            </a:r>
          </a:p>
          <a:p>
            <a:pPr marL="555625" lvl="1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We only showed changes in whole-body equivalent temperature (</a:t>
            </a:r>
            <a:r>
              <a:rPr lang="en-US" altLang="ja-JP" sz="2000" dirty="0" err="1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ja-JP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Teq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marL="950913" lvl="2" indent="-457200">
              <a:buClr>
                <a:schemeClr val="accent1"/>
              </a:buClr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Although the desk fans had small whole-body cooling effects less than 1oC, they provided stronger localized cooling around the head and upper body .</a:t>
            </a:r>
          </a:p>
          <a:p>
            <a:pPr marL="555625" lvl="1" indent="-457200">
              <a:buClr>
                <a:schemeClr val="accent1"/>
              </a:buClr>
              <a:buFont typeface="+mj-lt"/>
              <a:buAutoNum type="arabicPeriod"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Convective heat loss by PCS depends on the surrounding air temperature</a:t>
            </a:r>
          </a:p>
          <a:p>
            <a:pPr marL="950913" lvl="2" indent="-457200">
              <a:buClr>
                <a:schemeClr val="accent1"/>
              </a:buClr>
            </a:pP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convective heat loss = </a:t>
            </a:r>
            <a:r>
              <a:rPr lang="en-US" altLang="ja-JP" sz="1600" dirty="0" err="1">
                <a:latin typeface="Arial" panose="020B0604020202020204" pitchFamily="34" charset="0"/>
                <a:cs typeface="Arial" panose="020B0604020202020204" pitchFamily="34" charset="0"/>
              </a:rPr>
              <a:t>hc</a:t>
            </a: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 * (Tsk - Ta)</a:t>
            </a:r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ja-JP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図 5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C766F081-522A-67B1-38FB-7971D0119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868" y="4194865"/>
            <a:ext cx="2202657" cy="2202657"/>
          </a:xfrm>
          <a:prstGeom prst="rect">
            <a:avLst/>
          </a:prstGeom>
        </p:spPr>
      </p:pic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A306982D-E17A-74C0-B688-1ADA7BAEB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935273"/>
              </p:ext>
            </p:extLst>
          </p:nvPr>
        </p:nvGraphicFramePr>
        <p:xfrm>
          <a:off x="1380504" y="4199163"/>
          <a:ext cx="5400000" cy="2198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18243516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8603215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8954902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4462905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64975523"/>
                    </a:ext>
                  </a:extLst>
                </a:gridCol>
              </a:tblGrid>
              <a:tr h="36918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538278"/>
                  </a:ext>
                </a:extLst>
              </a:tr>
              <a:tr h="139717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58333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altLang="ja-JP" sz="1800" i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Teq</a:t>
                      </a:r>
                      <a:endParaRPr lang="en-US" sz="1800" i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02813"/>
                  </a:ext>
                </a:extLst>
              </a:tr>
            </a:tbl>
          </a:graphicData>
        </a:graphic>
      </p:graphicFrame>
      <p:pic>
        <p:nvPicPr>
          <p:cNvPr id="3" name="Picture 13" descr="A green circular object with a black background&#10;&#10;AI-generated content may be incorrect.">
            <a:extLst>
              <a:ext uri="{FF2B5EF4-FFF2-40B4-BE49-F238E27FC236}">
                <a16:creationId xmlns:a16="http://schemas.microsoft.com/office/drawing/2014/main" id="{B1F0DAC6-9FE7-A908-F25B-503C0BC97D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2062" y="4749321"/>
            <a:ext cx="1085004" cy="1058540"/>
          </a:xfrm>
          <a:prstGeom prst="rect">
            <a:avLst/>
          </a:prstGeom>
        </p:spPr>
      </p:pic>
      <p:pic>
        <p:nvPicPr>
          <p:cNvPr id="4" name="Picture 15" descr="A green fan with a black background&#10;&#10;AI-generated content may be incorrect.">
            <a:extLst>
              <a:ext uri="{FF2B5EF4-FFF2-40B4-BE49-F238E27FC236}">
                <a16:creationId xmlns:a16="http://schemas.microsoft.com/office/drawing/2014/main" id="{76AC48D1-AEE6-AEC7-8831-1C927644063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8028" y="4798187"/>
            <a:ext cx="906782" cy="960808"/>
          </a:xfrm>
          <a:prstGeom prst="rect">
            <a:avLst/>
          </a:prstGeom>
        </p:spPr>
      </p:pic>
      <p:pic>
        <p:nvPicPr>
          <p:cNvPr id="7" name="Picture 17" descr="A white cube shaped device with black vent&#10;&#10;AI-generated content may be incorrect.">
            <a:extLst>
              <a:ext uri="{FF2B5EF4-FFF2-40B4-BE49-F238E27FC236}">
                <a16:creationId xmlns:a16="http://schemas.microsoft.com/office/drawing/2014/main" id="{E0E478A1-A27A-CA27-C30F-8C686A53D1A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15772" y="4857110"/>
            <a:ext cx="1081087" cy="810815"/>
          </a:xfrm>
          <a:prstGeom prst="rect">
            <a:avLst/>
          </a:prstGeom>
        </p:spPr>
      </p:pic>
      <p:pic>
        <p:nvPicPr>
          <p:cNvPr id="9" name="Picture 19" descr="A white fan with a black background&#10;&#10;AI-generated content may be incorrect.">
            <a:extLst>
              <a:ext uri="{FF2B5EF4-FFF2-40B4-BE49-F238E27FC236}">
                <a16:creationId xmlns:a16="http://schemas.microsoft.com/office/drawing/2014/main" id="{B9AF7B72-44EB-FEDF-5B0A-2B434238297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4823" y="4731218"/>
            <a:ext cx="766409" cy="1076643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05E6DA3-3590-0791-D4D3-CF620FC5D9EF}"/>
              </a:ext>
            </a:extLst>
          </p:cNvPr>
          <p:cNvSpPr txBox="1"/>
          <p:nvPr/>
        </p:nvSpPr>
        <p:spPr>
          <a:xfrm>
            <a:off x="10261026" y="3681787"/>
            <a:ext cx="1765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2000" b="1" dirty="0">
                <a:solidFill>
                  <a:srgbClr val="3E3A39"/>
                </a:solidFill>
                <a:effectLst>
                  <a:glow rad="101600">
                    <a:schemeClr val="bg1"/>
                  </a:glow>
                </a:effectLst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Strong impact</a:t>
            </a:r>
            <a:endParaRPr kumimoji="1" lang="ja-JP" altLang="en-US" sz="2000" b="1" dirty="0">
              <a:solidFill>
                <a:srgbClr val="3E3A39"/>
              </a:solidFill>
              <a:effectLst>
                <a:glow rad="101600">
                  <a:schemeClr val="bg1"/>
                </a:glow>
              </a:effectLst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EA1E29A-5A45-34DE-9884-F3B796F98798}"/>
              </a:ext>
            </a:extLst>
          </p:cNvPr>
          <p:cNvCxnSpPr>
            <a:cxnSpLocks/>
          </p:cNvCxnSpPr>
          <p:nvPr/>
        </p:nvCxnSpPr>
        <p:spPr>
          <a:xfrm flipV="1">
            <a:off x="8899281" y="3931943"/>
            <a:ext cx="1251072" cy="110624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oval" w="med" len="med"/>
            <a:tailEnd type="oval" w="med" len="med"/>
          </a:ln>
          <a:effectLst>
            <a:glow rad="63500">
              <a:schemeClr val="bg1"/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02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標準配色">
  <a:themeElements>
    <a:clrScheme name="TAKENAKA　予備">
      <a:dk1>
        <a:srgbClr val="3E3A39"/>
      </a:dk1>
      <a:lt1>
        <a:sysClr val="window" lastClr="FFFFFF"/>
      </a:lt1>
      <a:dk2>
        <a:srgbClr val="861C3C"/>
      </a:dk2>
      <a:lt2>
        <a:srgbClr val="E6E6E6"/>
      </a:lt2>
      <a:accent1>
        <a:srgbClr val="AD3169"/>
      </a:accent1>
      <a:accent2>
        <a:srgbClr val="1E5199"/>
      </a:accent2>
      <a:accent3>
        <a:srgbClr val="DC4F03"/>
      </a:accent3>
      <a:accent4>
        <a:srgbClr val="2F5B53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TAKENAKA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F5B53"/>
        </a:solidFill>
        <a:ln>
          <a:solidFill>
            <a:srgbClr val="3E3A39"/>
          </a:solidFill>
        </a:ln>
      </a:spPr>
      <a:bodyPr rtlCol="0" anchor="ctr"/>
      <a:lstStyle>
        <a:defPPr algn="ctr">
          <a:defRPr kumimoji="1" sz="140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E3A39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sz="1400" dirty="0" smtClean="0">
            <a:solidFill>
              <a:srgbClr val="3E3A3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標準配色-中面A">
  <a:themeElements>
    <a:clrScheme name="TAKENAKA">
      <a:dk1>
        <a:srgbClr val="3E3A39"/>
      </a:dk1>
      <a:lt1>
        <a:sysClr val="window" lastClr="FFFFFF"/>
      </a:lt1>
      <a:dk2>
        <a:srgbClr val="861C3C"/>
      </a:dk2>
      <a:lt2>
        <a:srgbClr val="E6E6E6"/>
      </a:lt2>
      <a:accent1>
        <a:srgbClr val="AD3169"/>
      </a:accent1>
      <a:accent2>
        <a:srgbClr val="1E5199"/>
      </a:accent2>
      <a:accent3>
        <a:srgbClr val="DC4F03"/>
      </a:accent3>
      <a:accent4>
        <a:srgbClr val="2F5B53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TAKENAKA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F5B53"/>
        </a:solidFill>
        <a:ln>
          <a:solidFill>
            <a:srgbClr val="3E3A39"/>
          </a:solidFill>
        </a:ln>
      </a:spPr>
      <a:bodyPr rtlCol="0" anchor="ctr"/>
      <a:lstStyle>
        <a:defPPr algn="ctr">
          <a:defRPr kumimoji="1" sz="140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sz="1400" dirty="0" smtClean="0">
            <a:solidFill>
              <a:srgbClr val="3E3A3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標準配色-中面B">
  <a:themeElements>
    <a:clrScheme name="TAKENAKA">
      <a:dk1>
        <a:srgbClr val="3E3A39"/>
      </a:dk1>
      <a:lt1>
        <a:sysClr val="window" lastClr="FFFFFF"/>
      </a:lt1>
      <a:dk2>
        <a:srgbClr val="861C3C"/>
      </a:dk2>
      <a:lt2>
        <a:srgbClr val="E6E6E6"/>
      </a:lt2>
      <a:accent1>
        <a:srgbClr val="AD3169"/>
      </a:accent1>
      <a:accent2>
        <a:srgbClr val="1E5199"/>
      </a:accent2>
      <a:accent3>
        <a:srgbClr val="DC4F03"/>
      </a:accent3>
      <a:accent4>
        <a:srgbClr val="2F5B53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TAKENAKA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F5B53"/>
        </a:solidFill>
        <a:ln>
          <a:solidFill>
            <a:srgbClr val="3E3A39"/>
          </a:solidFill>
        </a:ln>
      </a:spPr>
      <a:bodyPr rtlCol="0" anchor="ctr"/>
      <a:lstStyle>
        <a:defPPr algn="ctr">
          <a:defRPr kumimoji="1" sz="140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sz="1400" dirty="0" smtClean="0">
            <a:solidFill>
              <a:srgbClr val="3E3A3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9716</TotalTime>
  <Words>1766</Words>
  <Application>Microsoft Office PowerPoint</Application>
  <PresentationFormat>ワイド画面</PresentationFormat>
  <Paragraphs>200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Arial Unicode MS</vt:lpstr>
      <vt:lpstr>游ゴシック</vt:lpstr>
      <vt:lpstr>Arial</vt:lpstr>
      <vt:lpstr>Cambria Math</vt:lpstr>
      <vt:lpstr>Office標準配色</vt:lpstr>
      <vt:lpstr>1_Office標準配色-中面A</vt:lpstr>
      <vt:lpstr>Office標準配色-中面B</vt:lpstr>
      <vt:lpstr>Supporting PCS Adoption:  A Database of Cooling and Heating Effects for Designers and Practitioners　</vt:lpstr>
      <vt:lpstr>Abstract</vt:lpstr>
      <vt:lpstr>Introduction</vt:lpstr>
      <vt:lpstr>Methods: thermal manikin experiment quantifying performance of 17 PCS devices</vt:lpstr>
      <vt:lpstr>Results: the database includes (1) device info, (2) test conditions, (3) measurement results</vt:lpstr>
      <vt:lpstr>Results: representative results for 17 PCS devices (mid-settings, Ta=25oC)</vt:lpstr>
      <vt:lpstr>Discussions: potential applications of the database</vt:lpstr>
      <vt:lpstr>PowerPoint プレゼンテーション</vt:lpstr>
      <vt:lpstr>Discussions: limitation of the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TAKATSU Hiroto</dc:creator>
  <cp:lastModifiedBy>野元　彬久</cp:lastModifiedBy>
  <cp:revision>674</cp:revision>
  <cp:lastPrinted>2025-09-29T01:36:15Z</cp:lastPrinted>
  <dcterms:created xsi:type="dcterms:W3CDTF">2025-01-09T06:08:06Z</dcterms:created>
  <dcterms:modified xsi:type="dcterms:W3CDTF">2026-06-02T09:49:16Z</dcterms:modified>
</cp:coreProperties>
</file>